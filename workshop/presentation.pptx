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88950"/>
  <p:notesSz cx="6858000" cy="12188950"/>
  <p:embeddedFontLst>
    <p:embeddedFont>
      <p:font typeface="Poppi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R5QeUQAoXFhA/nfxTJdQ3H9ZM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oppi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1pPr>
            <a:lvl2pPr lvl="1"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2pPr>
            <a:lvl3pPr lvl="2"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3pPr>
            <a:lvl4pPr lvl="3"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4pPr>
            <a:lvl5pPr lvl="4"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5pPr>
            <a:lvl6pPr lvl="5"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Poppins"/>
                <a:ea typeface="Poppins"/>
                <a:cs typeface="Poppins"/>
                <a:sym typeface="Poppins"/>
              </a:defRPr>
            </a:lvl1pPr>
            <a:lvl2pPr lvl="1"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2pPr>
            <a:lvl3pPr lvl="2"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3pPr>
            <a:lvl4pPr lvl="3"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4pPr>
            <a:lvl5pPr lvl="4"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5pPr>
            <a:lvl6pPr lvl="5"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1pPr>
            <a:lvl2pPr indent="-228600" lvl="1" marL="9144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2pPr>
            <a:lvl3pPr indent="-228600" lvl="2" marL="13716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3pPr>
            <a:lvl4pPr indent="-228600" lvl="3" marL="18288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4pPr>
            <a:lvl5pPr indent="-228600" lvl="4" marL="22860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5pPr>
            <a:lvl6pPr indent="-228600" lvl="5" marL="27432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6pPr>
            <a:lvl7pPr indent="-228600" lvl="6" marL="32004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7pPr>
            <a:lvl8pPr indent="-228600" lvl="7" marL="36576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8pPr>
            <a:lvl9pPr indent="-228600" lvl="8" marL="411480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Poppins"/>
                <a:ea typeface="Poppins"/>
                <a:cs typeface="Poppins"/>
                <a:sym typeface="Poppins"/>
              </a:defRPr>
            </a:lvl1pPr>
            <a:lvl2pPr lvl="1"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2pPr>
            <a:lvl3pPr lvl="2"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3pPr>
            <a:lvl4pPr lvl="3"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4pPr>
            <a:lvl5pPr lvl="4"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5pPr>
            <a:lvl6pPr lvl="5"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Poppins"/>
                <a:ea typeface="Poppins"/>
                <a:cs typeface="Poppins"/>
                <a:sym typeface="Poppins"/>
              </a:rPr>
              <a:t>‹#›</a:t>
            </a:fld>
            <a:endParaRPr b="0" i="0" sz="1200" u="none" cap="none" strike="noStrike">
              <a:solidFill>
                <a:schemeClr val="dk1"/>
              </a:solidFill>
              <a:latin typeface="Poppins"/>
              <a:ea typeface="Poppins"/>
              <a:cs typeface="Poppins"/>
              <a:sym typeface="Poppi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of all, hi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Brief </a:t>
            </a:r>
            <a:r>
              <a:rPr lang="en-US"/>
              <a:t>introduction</a:t>
            </a:r>
            <a:r>
              <a:rPr lang="en-US"/>
              <a:t> into the topic of how to prepare your data </a:t>
            </a:r>
            <a:r>
              <a:rPr lang="en-US"/>
              <a:t>warehouse</a:t>
            </a:r>
            <a:r>
              <a:rPr lang="en-US"/>
              <a:t> for agentic workflows,</a:t>
            </a:r>
            <a:endParaRPr/>
          </a:p>
          <a:p>
            <a:pPr indent="0" lvl="0" marL="0" rtl="0" algn="l">
              <a:spcBef>
                <a:spcPts val="0"/>
              </a:spcBef>
              <a:spcAft>
                <a:spcPts val="0"/>
              </a:spcAft>
              <a:buNone/>
            </a:pPr>
            <a:r>
              <a:rPr lang="en-US"/>
              <a:t>Before we dive into the workshop itself, which exists of 5 exercises.</a:t>
            </a:r>
            <a:endParaRPr/>
          </a:p>
          <a:p>
            <a:pPr indent="0" lvl="0" marL="0" rtl="0" algn="l">
              <a:spcBef>
                <a:spcPts val="0"/>
              </a:spcBef>
              <a:spcAft>
                <a:spcPts val="0"/>
              </a:spcAft>
              <a:buNone/>
            </a:pPr>
            <a:r>
              <a:rPr lang="en-US"/>
              <a:t>After that, we will wrap it up and we can enjoy a drink.</a:t>
            </a:r>
            <a:endParaRPr/>
          </a:p>
        </p:txBody>
      </p:sp>
      <p:sp>
        <p:nvSpPr>
          <p:cNvPr id="67" name="Google Shape;6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409854c100a_0_115: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g409854c100a_0_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put work struggles here, but with the massive amount LLM’s are used, I encounter this is my personal life as well. Plan a 21 day vacation for me in Georgia, or at work, business users want to ask questions to LLM’s.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sz="1200">
              <a:solidFill>
                <a:schemeClr val="dk1"/>
              </a:solidFill>
              <a:latin typeface="Calibri"/>
              <a:ea typeface="Calibri"/>
              <a:cs typeface="Calibri"/>
              <a:sym typeface="Calibri"/>
            </a:endParaRPr>
          </a:p>
        </p:txBody>
      </p:sp>
      <p:sp>
        <p:nvSpPr>
          <p:cNvPr id="77" name="Google Shape;77;g409854c100a_0_1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409854c100a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409854c100a_0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88" name="Google Shape;88;g409854c100a_0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409854c100a_0_135: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409854c100a_0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put work struggles here, but with the massive amount LLM’s are used, I encounter this is my personal life as well. Plan a 21 day vacation for me in Georgia, or at work, business users want to ask questions to LLM’s.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sz="1200">
              <a:solidFill>
                <a:schemeClr val="dk1"/>
              </a:solidFill>
              <a:latin typeface="Calibri"/>
              <a:ea typeface="Calibri"/>
              <a:cs typeface="Calibri"/>
              <a:sym typeface="Calibri"/>
            </a:endParaRPr>
          </a:p>
        </p:txBody>
      </p:sp>
      <p:sp>
        <p:nvSpPr>
          <p:cNvPr id="98" name="Google Shape;98;g409854c100a_0_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409854c100a_0_198: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g409854c100a_0_1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put work struggles here, but with the massive amount LLM’s are used, I encounter this is my personal life as well. Plan a 21 day vacation for me in Georgia, or at work, business users want to ask questions to LLM’s.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sz="1200">
              <a:solidFill>
                <a:schemeClr val="dk1"/>
              </a:solidFill>
              <a:latin typeface="Calibri"/>
              <a:ea typeface="Calibri"/>
              <a:cs typeface="Calibri"/>
              <a:sym typeface="Calibri"/>
            </a:endParaRPr>
          </a:p>
        </p:txBody>
      </p:sp>
      <p:sp>
        <p:nvSpPr>
          <p:cNvPr id="109" name="Google Shape;109;g409854c100a_0_1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409854c100a_0_210: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g409854c100a_0_2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put work struggles here, but with the massive amount LLM’s are used, I encounter this is my personal life as well. Plan a 21 day vacation for me in Georgia, or at work, business users want to ask questions to LLM’s.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sz="1200">
              <a:solidFill>
                <a:schemeClr val="dk1"/>
              </a:solidFill>
              <a:latin typeface="Calibri"/>
              <a:ea typeface="Calibri"/>
              <a:cs typeface="Calibri"/>
              <a:sym typeface="Calibri"/>
            </a:endParaRPr>
          </a:p>
        </p:txBody>
      </p:sp>
      <p:sp>
        <p:nvSpPr>
          <p:cNvPr id="121" name="Google Shape;121;g409854c100a_0_2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409854c100a_0_223: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g409854c100a_0_2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put work struggles here, but with the massive amount LLM’s are used, I encounter this is my personal life as well. Plan a 21 day vacation for me in Georgia, or at work, business users want to ask questions to LLM’s.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workshop goal -&gt; went in with selfish reasons, i find this incredibly important, because i’m curious by nature, and with you all being python developers, i think we are alike in curiosity. and to just let people that are not data-savvy go rogue with a LLM without understanding the underlying mechanisms, I find that a dangerous game to play. But there is an even bigger impact preparing your data and architecture can have : ....</a:t>
            </a:r>
            <a:endParaRPr sz="1200">
              <a:solidFill>
                <a:schemeClr val="dk1"/>
              </a:solidFill>
              <a:latin typeface="Calibri"/>
              <a:ea typeface="Calibri"/>
              <a:cs typeface="Calibri"/>
              <a:sym typeface="Calibri"/>
            </a:endParaRPr>
          </a:p>
        </p:txBody>
      </p:sp>
      <p:sp>
        <p:nvSpPr>
          <p:cNvPr id="134" name="Google Shape;134;g409854c100a_0_2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409854c100a_0_244: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409854c100a_0_2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8" name="Google Shape;148;g409854c100a_0_2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409854c100a_0_273: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g409854c100a_0_2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Not using AI is actually not an option anymore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But what approaches we take, can drastically decrease the token usage and costs</a:t>
            </a:r>
            <a:endParaRPr sz="1200">
              <a:solidFill>
                <a:schemeClr val="dk1"/>
              </a:solidFill>
              <a:latin typeface="Calibri"/>
              <a:ea typeface="Calibri"/>
              <a:cs typeface="Calibri"/>
              <a:sym typeface="Calibri"/>
            </a:endParaRPr>
          </a:p>
        </p:txBody>
      </p:sp>
      <p:sp>
        <p:nvSpPr>
          <p:cNvPr id="174" name="Google Shape;174;g409854c100a_0_2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409854c100a_0_3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Everyone knows, data has to be cleaned, however with big </a:t>
            </a:r>
            <a:r>
              <a:rPr lang="en-US"/>
              <a:t>batches being uploaded in LLMs, this step is often skipped. and I get it, most people don’t find it the most exciting part. However, it is good to know that there is a difference between cleaning for AI, or cleaning for a ML model or a dashboard.</a:t>
            </a:r>
            <a:br>
              <a:rPr lang="en-US"/>
            </a:br>
            <a:endParaRPr/>
          </a:p>
          <a:p>
            <a:pPr indent="0" lvl="0" marL="0" rtl="0" algn="l">
              <a:spcBef>
                <a:spcPts val="0"/>
              </a:spcBef>
              <a:spcAft>
                <a:spcPts val="0"/>
              </a:spcAft>
              <a:buNone/>
            </a:pPr>
            <a:r>
              <a:rPr lang="en-US"/>
              <a:t>For a LLM, we need to think about the value that it means in the business.</a:t>
            </a:r>
            <a:endParaRPr/>
          </a:p>
        </p:txBody>
      </p:sp>
      <p:sp>
        <p:nvSpPr>
          <p:cNvPr id="221" name="Google Shape;221;g409854c100a_0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409854c100a_0_3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409854c100a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tabular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is it for documents? naive chunking vs semantic chunking</a:t>
            </a:r>
            <a:endParaRPr/>
          </a:p>
        </p:txBody>
      </p:sp>
      <p:sp>
        <p:nvSpPr>
          <p:cNvPr id="242" name="Google Shape;24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409854c100a_0_3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409854c100a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409854c100a_0_4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What we see: irrelevant columns cost tokens, but aside from that, they add noise. The model has to figure out what to ignore, and sometimes it doesn't.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Data documentation is essential for the LLM to understand what the columns mean.</a:t>
            </a:r>
            <a:endParaRPr/>
          </a:p>
        </p:txBody>
      </p:sp>
      <p:sp>
        <p:nvSpPr>
          <p:cNvPr id="270" name="Google Shape;270;g409854c100a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409854c100a_0_3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409854c100a_0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409854c100a_0_3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 have worked at multiple retail </a:t>
            </a:r>
            <a:r>
              <a:rPr lang="en-US"/>
              <a:t>companies</a:t>
            </a:r>
            <a:r>
              <a:rPr lang="en-US"/>
              <a:t>, and this was an issue in every company.</a:t>
            </a:r>
            <a:br>
              <a:rPr lang="en-US"/>
            </a:br>
            <a:br>
              <a:rPr lang="en-US"/>
            </a:br>
            <a:r>
              <a:rPr lang="en-US"/>
              <a:t>parse_llm_json, more costly, this is another side of the coin, we can also make use of a smaller LLM if our data structure is very solid for AI usage</a:t>
            </a:r>
            <a:endParaRPr/>
          </a:p>
        </p:txBody>
      </p:sp>
      <p:sp>
        <p:nvSpPr>
          <p:cNvPr id="290" name="Google Shape;290;g409854c100a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409854c100a_0_3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409854c100a_0_3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409854c100a_0_3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is how production analytics AI works</a:t>
            </a:r>
            <a:endParaRPr/>
          </a:p>
          <a:p>
            <a:pPr indent="0" lvl="0" marL="0" rtl="0" algn="l">
              <a:spcBef>
                <a:spcPts val="0"/>
              </a:spcBef>
              <a:spcAft>
                <a:spcPts val="0"/>
              </a:spcAft>
              <a:buNone/>
            </a:pPr>
            <a:r>
              <a:rPr lang="en-US"/>
              <a:t>Tools like Databricks and Tableau use text-to-SQL under the hood. When a business user asks Tableau "why did revenue drop in Q3?" — it writes SQL, the database runs it, and the LLM explains the result. The exercise you just did is the same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failure in the naive approach is a cognitive task mismatch, not a knowledge gap. The model is like a brilliant anaytst who can’t do maths in their head, but with a calculate (the database) it is fine.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LLM writes SQL based on what you tell it about the table. This shows the great importance of dbt descriptions, data catalogs and semantic layers, especially when you add a LLM to your stack.</a:t>
            </a:r>
            <a:endParaRPr/>
          </a:p>
          <a:p>
            <a:pPr indent="0" lvl="0" marL="0" rtl="0" algn="l">
              <a:spcBef>
                <a:spcPts val="0"/>
              </a:spcBef>
              <a:spcAft>
                <a:spcPts val="0"/>
              </a:spcAft>
              <a:buNone/>
            </a:pPr>
            <a:r>
              <a:rPr lang="en-US"/>
              <a:t>Where good documentation was first a nice-to-have, now it directly affects answer correctness</a:t>
            </a:r>
            <a:endParaRPr/>
          </a:p>
          <a:p>
            <a:pPr indent="0" lvl="0" marL="0" rtl="0" algn="l">
              <a:spcBef>
                <a:spcPts val="0"/>
              </a:spcBef>
              <a:spcAft>
                <a:spcPts val="0"/>
              </a:spcAft>
              <a:buNone/>
            </a:pPr>
            <a:r>
              <a:t/>
            </a:r>
            <a:endParaRPr/>
          </a:p>
        </p:txBody>
      </p:sp>
      <p:sp>
        <p:nvSpPr>
          <p:cNvPr id="310" name="Google Shape;310;g409854c100a_0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90 minutes, but I always got a gazillion ideas, so if you feel like talking more about this topic, please find me during the drinks or you can contact me via email or linked in,</a:t>
            </a:r>
            <a:br>
              <a:rPr lang="en-US"/>
            </a:br>
            <a:br>
              <a:rPr lang="en-US"/>
            </a:br>
            <a:endParaRPr/>
          </a:p>
        </p:txBody>
      </p:sp>
      <p:sp>
        <p:nvSpPr>
          <p:cNvPr id="321" name="Google Shape;32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Blank — Title + Body" type="blank">
  <p:cSld name="BLANK">
    <p:bg>
      <p:bgPr>
        <a:solidFill>
          <a:srgbClr val="E8EBF2"/>
        </a:solidFill>
      </p:bgPr>
    </p:bg>
    <p:spTree>
      <p:nvGrpSpPr>
        <p:cNvPr id="10" name="Shape 10"/>
        <p:cNvGrpSpPr/>
        <p:nvPr/>
      </p:nvGrpSpPr>
      <p:grpSpPr>
        <a:xfrm>
          <a:off x="0" y="0"/>
          <a:ext cx="0" cy="0"/>
          <a:chOff x="0" y="0"/>
          <a:chExt cx="0" cy="0"/>
        </a:xfrm>
      </p:grpSpPr>
      <p:pic>
        <p:nvPicPr>
          <p:cNvPr id="11" name="Google Shape;11;p16"/>
          <p:cNvPicPr preferRelativeResize="0"/>
          <p:nvPr/>
        </p:nvPicPr>
        <p:blipFill rotWithShape="1">
          <a:blip r:embed="rId2">
            <a:alphaModFix/>
          </a:blip>
          <a:srcRect b="0" l="0" r="0" t="0"/>
          <a:stretch/>
        </p:blipFill>
        <p:spPr>
          <a:xfrm>
            <a:off x="0" y="0"/>
            <a:ext cx="12188952" cy="6858000"/>
          </a:xfrm>
          <a:prstGeom prst="rect">
            <a:avLst/>
          </a:prstGeom>
          <a:noFill/>
          <a:ln>
            <a:noFill/>
          </a:ln>
        </p:spPr>
      </p:pic>
      <p:pic>
        <p:nvPicPr>
          <p:cNvPr id="12" name="Google Shape;12;p16"/>
          <p:cNvPicPr preferRelativeResize="0"/>
          <p:nvPr/>
        </p:nvPicPr>
        <p:blipFill rotWithShape="1">
          <a:blip r:embed="rId3">
            <a:alphaModFix/>
          </a:blip>
          <a:srcRect b="0" l="0" r="0" t="0"/>
          <a:stretch/>
        </p:blipFill>
        <p:spPr>
          <a:xfrm>
            <a:off x="10735056" y="6126480"/>
            <a:ext cx="941832" cy="201168"/>
          </a:xfrm>
          <a:prstGeom prst="rect">
            <a:avLst/>
          </a:prstGeom>
          <a:noFill/>
          <a:ln>
            <a:noFill/>
          </a:ln>
        </p:spPr>
      </p:pic>
      <p:sp>
        <p:nvSpPr>
          <p:cNvPr id="13" name="Google Shape;13;p16"/>
          <p:cNvSpPr txBox="1"/>
          <p:nvPr>
            <p:ph idx="1" type="subTitle"/>
          </p:nvPr>
        </p:nvSpPr>
        <p:spPr>
          <a:xfrm>
            <a:off x="512064" y="182880"/>
            <a:ext cx="11164824" cy="274320"/>
          </a:xfrm>
          <a:prstGeom prst="rect">
            <a:avLst/>
          </a:prstGeom>
          <a:noFill/>
          <a:ln>
            <a:noFill/>
          </a:ln>
        </p:spPr>
        <p:txBody>
          <a:bodyPr anchorCtr="0" anchor="t" bIns="45700" lIns="91425" spcFirstLastPara="1" rIns="91425" wrap="square" tIns="45700">
            <a:noAutofit/>
          </a:bodyPr>
          <a:lstStyle>
            <a:lvl1pPr lvl="0" marR="0" rtl="0" algn="l">
              <a:spcBef>
                <a:spcPts val="240"/>
              </a:spcBef>
              <a:spcAft>
                <a:spcPts val="0"/>
              </a:spcAft>
              <a:buClr>
                <a:srgbClr val="848B93"/>
              </a:buClr>
              <a:buSzPts val="1200"/>
              <a:buFont typeface="Arial"/>
              <a:buChar char="•"/>
              <a:defRPr b="0" i="0" sz="1200" u="none" cap="none" strike="noStrike">
                <a:solidFill>
                  <a:srgbClr val="848B93"/>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14" name="Google Shape;14;p16"/>
          <p:cNvSpPr txBox="1"/>
          <p:nvPr>
            <p:ph type="title"/>
          </p:nvPr>
        </p:nvSpPr>
        <p:spPr>
          <a:xfrm>
            <a:off x="512064" y="594360"/>
            <a:ext cx="11164824" cy="5029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333333"/>
              </a:buClr>
              <a:buSzPts val="2700"/>
              <a:buFont typeface="Poppins"/>
              <a:buNone/>
              <a:defRPr b="0" i="0" sz="2700" u="none" cap="none" strike="noStrike">
                <a:solidFill>
                  <a:srgbClr val="333333"/>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6"/>
          <p:cNvSpPr txBox="1"/>
          <p:nvPr>
            <p:ph idx="2" type="body"/>
          </p:nvPr>
        </p:nvSpPr>
        <p:spPr>
          <a:xfrm>
            <a:off x="512064" y="1536192"/>
            <a:ext cx="11164824" cy="4572000"/>
          </a:xfrm>
          <a:prstGeom prst="rect">
            <a:avLst/>
          </a:prstGeom>
          <a:noFill/>
          <a:ln>
            <a:noFill/>
          </a:ln>
        </p:spPr>
        <p:txBody>
          <a:bodyPr anchorCtr="0" anchor="t" bIns="45700" lIns="91425" spcFirstLastPara="1" rIns="91425" wrap="square" tIns="45700">
            <a:noAutofit/>
          </a:bodyPr>
          <a:lstStyle>
            <a:lvl1pPr indent="-311150" lvl="0" marL="457200" marR="0" rtl="0" algn="l">
              <a:spcBef>
                <a:spcPts val="260"/>
              </a:spcBef>
              <a:spcAft>
                <a:spcPts val="0"/>
              </a:spcAft>
              <a:buClr>
                <a:srgbClr val="333333"/>
              </a:buClr>
              <a:buSzPts val="1300"/>
              <a:buFont typeface="Arial"/>
              <a:buChar char="•"/>
              <a:defRPr b="0" i="0" sz="1300" u="none" cap="none" strike="noStrike">
                <a:solidFill>
                  <a:srgbClr val="333333"/>
                </a:solidFill>
                <a:latin typeface="Poppins"/>
                <a:ea typeface="Poppins"/>
                <a:cs typeface="Poppins"/>
                <a:sym typeface="Poppi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Section Divider">
  <p:cSld name="04 · Section Divider">
    <p:bg>
      <p:bgPr>
        <a:solidFill>
          <a:srgbClr val="1B43D4"/>
        </a:solidFill>
      </p:bgPr>
    </p:bg>
    <p:spTree>
      <p:nvGrpSpPr>
        <p:cNvPr id="16" name="Shape 16"/>
        <p:cNvGrpSpPr/>
        <p:nvPr/>
      </p:nvGrpSpPr>
      <p:grpSpPr>
        <a:xfrm>
          <a:off x="0" y="0"/>
          <a:ext cx="0" cy="0"/>
          <a:chOff x="0" y="0"/>
          <a:chExt cx="0" cy="0"/>
        </a:xfrm>
      </p:grpSpPr>
      <p:pic>
        <p:nvPicPr>
          <p:cNvPr id="17" name="Google Shape;17;p17"/>
          <p:cNvPicPr preferRelativeResize="0"/>
          <p:nvPr/>
        </p:nvPicPr>
        <p:blipFill rotWithShape="1">
          <a:blip r:embed="rId2">
            <a:alphaModFix/>
          </a:blip>
          <a:srcRect b="0" l="0" r="0" t="0"/>
          <a:stretch/>
        </p:blipFill>
        <p:spPr>
          <a:xfrm>
            <a:off x="0" y="0"/>
            <a:ext cx="12188952" cy="6858000"/>
          </a:xfrm>
          <a:prstGeom prst="rect">
            <a:avLst/>
          </a:prstGeom>
          <a:noFill/>
          <a:ln>
            <a:noFill/>
          </a:ln>
        </p:spPr>
      </p:pic>
      <p:pic>
        <p:nvPicPr>
          <p:cNvPr id="18" name="Google Shape;18;p17"/>
          <p:cNvPicPr preferRelativeResize="0"/>
          <p:nvPr/>
        </p:nvPicPr>
        <p:blipFill rotWithShape="1">
          <a:blip r:embed="rId3">
            <a:alphaModFix/>
          </a:blip>
          <a:srcRect b="0" l="0" r="0" t="0"/>
          <a:stretch/>
        </p:blipFill>
        <p:spPr>
          <a:xfrm>
            <a:off x="10735056" y="6126480"/>
            <a:ext cx="941832" cy="201168"/>
          </a:xfrm>
          <a:prstGeom prst="rect">
            <a:avLst/>
          </a:prstGeom>
          <a:noFill/>
          <a:ln>
            <a:noFill/>
          </a:ln>
        </p:spPr>
      </p:pic>
      <p:sp>
        <p:nvSpPr>
          <p:cNvPr id="19" name="Google Shape;19;p17"/>
          <p:cNvSpPr txBox="1"/>
          <p:nvPr>
            <p:ph idx="1" type="subTitle"/>
          </p:nvPr>
        </p:nvSpPr>
        <p:spPr>
          <a:xfrm>
            <a:off x="512064" y="1691640"/>
            <a:ext cx="2743200" cy="411480"/>
          </a:xfrm>
          <a:prstGeom prst="rect">
            <a:avLst/>
          </a:prstGeom>
          <a:noFill/>
          <a:ln>
            <a:noFill/>
          </a:ln>
        </p:spPr>
        <p:txBody>
          <a:bodyPr anchorCtr="0" anchor="t" bIns="45700" lIns="91425" spcFirstLastPara="1" rIns="91425" wrap="square" tIns="45700">
            <a:noAutofit/>
          </a:bodyPr>
          <a:lstStyle>
            <a:lvl1pPr lvl="0" marR="0" rtl="0" algn="l">
              <a:spcBef>
                <a:spcPts val="320"/>
              </a:spcBef>
              <a:spcAft>
                <a:spcPts val="0"/>
              </a:spcAft>
              <a:buClr>
                <a:srgbClr val="FFFFFF"/>
              </a:buClr>
              <a:buSzPts val="1600"/>
              <a:buFont typeface="Arial"/>
              <a:buChar char="•"/>
              <a:defRPr b="0" i="0" sz="1600" u="none" cap="none" strike="noStrike">
                <a:solidFill>
                  <a:srgbClr val="FFFFFF"/>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20" name="Google Shape;20;p17"/>
          <p:cNvSpPr txBox="1"/>
          <p:nvPr>
            <p:ph type="title"/>
          </p:nvPr>
        </p:nvSpPr>
        <p:spPr>
          <a:xfrm>
            <a:off x="457200" y="2103120"/>
            <a:ext cx="9601200" cy="20116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6000"/>
              <a:buFont typeface="Poppins"/>
              <a:buNone/>
              <a:defRPr b="0" i="0" sz="6000" u="none" cap="none" strike="noStrike">
                <a:solidFill>
                  <a:srgbClr val="FFFFFF"/>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ection Divider + Photo">
  <p:cSld name="05 · Section Divider + Photo">
    <p:bg>
      <p:bgPr>
        <a:solidFill>
          <a:srgbClr val="1B43D4"/>
        </a:solidFill>
      </p:bgPr>
    </p:bg>
    <p:spTree>
      <p:nvGrpSpPr>
        <p:cNvPr id="21" name="Shape 21"/>
        <p:cNvGrpSpPr/>
        <p:nvPr/>
      </p:nvGrpSpPr>
      <p:grpSpPr>
        <a:xfrm>
          <a:off x="0" y="0"/>
          <a:ext cx="0" cy="0"/>
          <a:chOff x="0" y="0"/>
          <a:chExt cx="0" cy="0"/>
        </a:xfrm>
      </p:grpSpPr>
      <p:pic>
        <p:nvPicPr>
          <p:cNvPr id="22" name="Google Shape;22;p18"/>
          <p:cNvPicPr preferRelativeResize="0"/>
          <p:nvPr/>
        </p:nvPicPr>
        <p:blipFill rotWithShape="1">
          <a:blip r:embed="rId2">
            <a:alphaModFix/>
          </a:blip>
          <a:srcRect b="0" l="0" r="0" t="0"/>
          <a:stretch/>
        </p:blipFill>
        <p:spPr>
          <a:xfrm>
            <a:off x="0" y="0"/>
            <a:ext cx="12188952" cy="6858000"/>
          </a:xfrm>
          <a:prstGeom prst="rect">
            <a:avLst/>
          </a:prstGeom>
          <a:noFill/>
          <a:ln>
            <a:noFill/>
          </a:ln>
        </p:spPr>
      </p:pic>
      <p:pic>
        <p:nvPicPr>
          <p:cNvPr id="23" name="Google Shape;23;p18"/>
          <p:cNvPicPr preferRelativeResize="0"/>
          <p:nvPr/>
        </p:nvPicPr>
        <p:blipFill rotWithShape="1">
          <a:blip r:embed="rId3">
            <a:alphaModFix/>
          </a:blip>
          <a:srcRect b="0" l="0" r="0" t="0"/>
          <a:stretch/>
        </p:blipFill>
        <p:spPr>
          <a:xfrm>
            <a:off x="10735056" y="6126480"/>
            <a:ext cx="941832" cy="201168"/>
          </a:xfrm>
          <a:prstGeom prst="rect">
            <a:avLst/>
          </a:prstGeom>
          <a:noFill/>
          <a:ln>
            <a:noFill/>
          </a:ln>
        </p:spPr>
      </p:pic>
      <p:sp>
        <p:nvSpPr>
          <p:cNvPr id="24" name="Google Shape;24;p18"/>
          <p:cNvSpPr/>
          <p:nvPr/>
        </p:nvSpPr>
        <p:spPr>
          <a:xfrm>
            <a:off x="-2770632" y="1014984"/>
            <a:ext cx="6958584" cy="4471416"/>
          </a:xfrm>
          <a:prstGeom prst="roundRect">
            <a:avLst>
              <a:gd fmla="val 50000" name="adj"/>
            </a:avLst>
          </a:prstGeom>
          <a:solidFill>
            <a:srgbClr val="1535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8"/>
          <p:cNvSpPr txBox="1"/>
          <p:nvPr>
            <p:ph idx="1" type="subTitle"/>
          </p:nvPr>
        </p:nvSpPr>
        <p:spPr>
          <a:xfrm>
            <a:off x="274320" y="2926080"/>
            <a:ext cx="3474720" cy="640080"/>
          </a:xfrm>
          <a:prstGeom prst="rect">
            <a:avLst/>
          </a:prstGeom>
          <a:noFill/>
          <a:ln>
            <a:noFill/>
          </a:ln>
        </p:spPr>
        <p:txBody>
          <a:bodyPr anchorCtr="0" anchor="t" bIns="45700" lIns="91425" spcFirstLastPara="1" rIns="91425" wrap="square" tIns="45700">
            <a:noAutofit/>
          </a:bodyPr>
          <a:lstStyle>
            <a:lvl1pPr lvl="0" marR="0" rtl="0" algn="ctr">
              <a:spcBef>
                <a:spcPts val="240"/>
              </a:spcBef>
              <a:spcAft>
                <a:spcPts val="0"/>
              </a:spcAft>
              <a:buClr>
                <a:srgbClr val="5B7FCC"/>
              </a:buClr>
              <a:buSzPts val="1200"/>
              <a:buFont typeface="Arial"/>
              <a:buChar char="•"/>
              <a:defRPr b="0" i="0" sz="1200" u="none" cap="none" strike="noStrike">
                <a:solidFill>
                  <a:srgbClr val="5B7FCC"/>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26" name="Google Shape;26;p18"/>
          <p:cNvSpPr txBox="1"/>
          <p:nvPr>
            <p:ph idx="2" type="subTitle"/>
          </p:nvPr>
        </p:nvSpPr>
        <p:spPr>
          <a:xfrm>
            <a:off x="4526280" y="1005840"/>
            <a:ext cx="7132320" cy="2651760"/>
          </a:xfrm>
          <a:prstGeom prst="rect">
            <a:avLst/>
          </a:prstGeom>
          <a:noFill/>
          <a:ln>
            <a:noFill/>
          </a:ln>
        </p:spPr>
        <p:txBody>
          <a:bodyPr anchorCtr="0" anchor="t" bIns="45700" lIns="91425" spcFirstLastPara="1" rIns="91425" wrap="square" tIns="45700">
            <a:noAutofit/>
          </a:bodyPr>
          <a:lstStyle>
            <a:lvl1pPr lvl="0" marR="0" rtl="0" algn="l">
              <a:spcBef>
                <a:spcPts val="2940"/>
              </a:spcBef>
              <a:spcAft>
                <a:spcPts val="0"/>
              </a:spcAft>
              <a:buClr>
                <a:srgbClr val="FFFFFF"/>
              </a:buClr>
              <a:buSzPts val="14700"/>
              <a:buFont typeface="Arial"/>
              <a:buChar char="•"/>
              <a:defRPr b="0" i="0" sz="14700" u="none" cap="none" strike="noStrike">
                <a:solidFill>
                  <a:srgbClr val="FFFFFF"/>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27" name="Google Shape;27;p18"/>
          <p:cNvSpPr txBox="1"/>
          <p:nvPr>
            <p:ph type="title"/>
          </p:nvPr>
        </p:nvSpPr>
        <p:spPr>
          <a:xfrm>
            <a:off x="4617720" y="3666744"/>
            <a:ext cx="6858000"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3700"/>
              <a:buFont typeface="Poppins"/>
              <a:buNone/>
              <a:defRPr b="0" i="0" sz="3700" u="none" cap="none" strike="noStrike">
                <a:solidFill>
                  <a:srgbClr val="FFFFFF"/>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Full-bleed Photo + Panel">
  <p:cSld name="06 · Full-bleed Photo + Panel">
    <p:bg>
      <p:bgPr>
        <a:solidFill>
          <a:srgbClr val="0D1B2E"/>
        </a:solidFill>
      </p:bgPr>
    </p:bg>
    <p:spTree>
      <p:nvGrpSpPr>
        <p:cNvPr id="28" name="Shape 28"/>
        <p:cNvGrpSpPr/>
        <p:nvPr/>
      </p:nvGrpSpPr>
      <p:grpSpPr>
        <a:xfrm>
          <a:off x="0" y="0"/>
          <a:ext cx="0" cy="0"/>
          <a:chOff x="0" y="0"/>
          <a:chExt cx="0" cy="0"/>
        </a:xfrm>
      </p:grpSpPr>
      <p:sp>
        <p:nvSpPr>
          <p:cNvPr id="29" name="Google Shape;29;p19"/>
          <p:cNvSpPr/>
          <p:nvPr/>
        </p:nvSpPr>
        <p:spPr>
          <a:xfrm>
            <a:off x="0" y="0"/>
            <a:ext cx="12188952" cy="6858000"/>
          </a:xfrm>
          <a:prstGeom prst="rect">
            <a:avLst/>
          </a:prstGeom>
          <a:solidFill>
            <a:srgbClr val="1A2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 name="Google Shape;30;p19"/>
          <p:cNvPicPr preferRelativeResize="0"/>
          <p:nvPr/>
        </p:nvPicPr>
        <p:blipFill rotWithShape="1">
          <a:blip r:embed="rId2">
            <a:alphaModFix/>
          </a:blip>
          <a:srcRect b="0" l="0" r="0" t="0"/>
          <a:stretch/>
        </p:blipFill>
        <p:spPr>
          <a:xfrm>
            <a:off x="0" y="2944368"/>
            <a:ext cx="6775704" cy="3913632"/>
          </a:xfrm>
          <a:prstGeom prst="rect">
            <a:avLst/>
          </a:prstGeom>
          <a:noFill/>
          <a:ln>
            <a:noFill/>
          </a:ln>
        </p:spPr>
      </p:pic>
      <p:pic>
        <p:nvPicPr>
          <p:cNvPr id="31" name="Google Shape;31;p19"/>
          <p:cNvPicPr preferRelativeResize="0"/>
          <p:nvPr/>
        </p:nvPicPr>
        <p:blipFill rotWithShape="1">
          <a:blip r:embed="rId3">
            <a:alphaModFix/>
          </a:blip>
          <a:srcRect b="0" l="0" r="0" t="0"/>
          <a:stretch/>
        </p:blipFill>
        <p:spPr>
          <a:xfrm>
            <a:off x="10222992" y="502920"/>
            <a:ext cx="1453896" cy="512064"/>
          </a:xfrm>
          <a:prstGeom prst="rect">
            <a:avLst/>
          </a:prstGeom>
          <a:noFill/>
          <a:ln>
            <a:noFill/>
          </a:ln>
        </p:spPr>
      </p:pic>
      <p:pic>
        <p:nvPicPr>
          <p:cNvPr id="32" name="Google Shape;32;p19"/>
          <p:cNvPicPr preferRelativeResize="0"/>
          <p:nvPr/>
        </p:nvPicPr>
        <p:blipFill rotWithShape="1">
          <a:blip r:embed="rId4">
            <a:alphaModFix/>
          </a:blip>
          <a:srcRect b="0" l="0" r="0" t="0"/>
          <a:stretch/>
        </p:blipFill>
        <p:spPr>
          <a:xfrm>
            <a:off x="10735056" y="6126480"/>
            <a:ext cx="941832" cy="201168"/>
          </a:xfrm>
          <a:prstGeom prst="rect">
            <a:avLst/>
          </a:prstGeom>
          <a:noFill/>
          <a:ln>
            <a:noFill/>
          </a:ln>
        </p:spPr>
      </p:pic>
      <p:sp>
        <p:nvSpPr>
          <p:cNvPr id="33" name="Google Shape;33;p19"/>
          <p:cNvSpPr txBox="1"/>
          <p:nvPr>
            <p:ph idx="1" type="subTitle"/>
          </p:nvPr>
        </p:nvSpPr>
        <p:spPr>
          <a:xfrm>
            <a:off x="2743200" y="1371600"/>
            <a:ext cx="6702552" cy="548640"/>
          </a:xfrm>
          <a:prstGeom prst="rect">
            <a:avLst/>
          </a:prstGeom>
          <a:noFill/>
          <a:ln>
            <a:noFill/>
          </a:ln>
        </p:spPr>
        <p:txBody>
          <a:bodyPr anchorCtr="0" anchor="t" bIns="45700" lIns="91425" spcFirstLastPara="1" rIns="91425" wrap="square" tIns="45700">
            <a:noAutofit/>
          </a:bodyPr>
          <a:lstStyle>
            <a:lvl1pPr lvl="0" marR="0" rtl="0" algn="ctr">
              <a:spcBef>
                <a:spcPts val="260"/>
              </a:spcBef>
              <a:spcAft>
                <a:spcPts val="0"/>
              </a:spcAft>
              <a:buClr>
                <a:srgbClr val="848B93"/>
              </a:buClr>
              <a:buSzPts val="1300"/>
              <a:buFont typeface="Arial"/>
              <a:buChar char="•"/>
              <a:defRPr b="0" i="0" sz="1300" u="none" cap="none" strike="noStrike">
                <a:solidFill>
                  <a:srgbClr val="848B93"/>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34" name="Google Shape;34;p19"/>
          <p:cNvSpPr txBox="1"/>
          <p:nvPr>
            <p:ph type="title"/>
          </p:nvPr>
        </p:nvSpPr>
        <p:spPr>
          <a:xfrm>
            <a:off x="539496" y="3931920"/>
            <a:ext cx="5760720" cy="2194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3700"/>
              <a:buFont typeface="Poppins"/>
              <a:buNone/>
              <a:defRPr b="0" i="0" sz="3700" u="none" cap="none" strike="noStrike">
                <a:solidFill>
                  <a:srgbClr val="FFFFFF"/>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Blue Statement">
  <p:cSld name="07 · Blue Statement">
    <p:bg>
      <p:bgPr>
        <a:solidFill>
          <a:srgbClr val="1B43D4"/>
        </a:solidFill>
      </p:bgPr>
    </p:bg>
    <p:spTree>
      <p:nvGrpSpPr>
        <p:cNvPr id="35" name="Shape 35"/>
        <p:cNvGrpSpPr/>
        <p:nvPr/>
      </p:nvGrpSpPr>
      <p:grpSpPr>
        <a:xfrm>
          <a:off x="0" y="0"/>
          <a:ext cx="0" cy="0"/>
          <a:chOff x="0" y="0"/>
          <a:chExt cx="0" cy="0"/>
        </a:xfrm>
      </p:grpSpPr>
      <p:pic>
        <p:nvPicPr>
          <p:cNvPr id="36" name="Google Shape;36;p20"/>
          <p:cNvPicPr preferRelativeResize="0"/>
          <p:nvPr/>
        </p:nvPicPr>
        <p:blipFill rotWithShape="1">
          <a:blip r:embed="rId2">
            <a:alphaModFix/>
          </a:blip>
          <a:srcRect b="0" l="0" r="0" t="0"/>
          <a:stretch/>
        </p:blipFill>
        <p:spPr>
          <a:xfrm>
            <a:off x="0" y="0"/>
            <a:ext cx="12188952" cy="6858000"/>
          </a:xfrm>
          <a:prstGeom prst="rect">
            <a:avLst/>
          </a:prstGeom>
          <a:noFill/>
          <a:ln>
            <a:noFill/>
          </a:ln>
        </p:spPr>
      </p:pic>
      <p:pic>
        <p:nvPicPr>
          <p:cNvPr id="37" name="Google Shape;37;p20"/>
          <p:cNvPicPr preferRelativeResize="0"/>
          <p:nvPr/>
        </p:nvPicPr>
        <p:blipFill rotWithShape="1">
          <a:blip r:embed="rId3">
            <a:alphaModFix/>
          </a:blip>
          <a:srcRect b="0" l="0" r="0" t="0"/>
          <a:stretch/>
        </p:blipFill>
        <p:spPr>
          <a:xfrm>
            <a:off x="10735056" y="6126480"/>
            <a:ext cx="941832" cy="201168"/>
          </a:xfrm>
          <a:prstGeom prst="rect">
            <a:avLst/>
          </a:prstGeom>
          <a:noFill/>
          <a:ln>
            <a:noFill/>
          </a:ln>
        </p:spPr>
      </p:pic>
      <p:sp>
        <p:nvSpPr>
          <p:cNvPr id="38" name="Google Shape;38;p20"/>
          <p:cNvSpPr txBox="1"/>
          <p:nvPr>
            <p:ph idx="1" type="subTitle"/>
          </p:nvPr>
        </p:nvSpPr>
        <p:spPr>
          <a:xfrm>
            <a:off x="1911096" y="1901952"/>
            <a:ext cx="8366760" cy="411480"/>
          </a:xfrm>
          <a:prstGeom prst="rect">
            <a:avLst/>
          </a:prstGeom>
          <a:noFill/>
          <a:ln>
            <a:noFill/>
          </a:ln>
        </p:spPr>
        <p:txBody>
          <a:bodyPr anchorCtr="0" anchor="t" bIns="45700" lIns="91425" spcFirstLastPara="1" rIns="91425" wrap="square" tIns="45700">
            <a:noAutofit/>
          </a:bodyPr>
          <a:lstStyle>
            <a:lvl1pPr lvl="0" marR="0" rtl="0" algn="ctr">
              <a:spcBef>
                <a:spcPts val="400"/>
              </a:spcBef>
              <a:spcAft>
                <a:spcPts val="0"/>
              </a:spcAft>
              <a:buClr>
                <a:srgbClr val="FFFFFF"/>
              </a:buClr>
              <a:buSzPts val="2000"/>
              <a:buFont typeface="Arial"/>
              <a:buChar char="•"/>
              <a:defRPr b="0" i="0" sz="2000" u="none" cap="none" strike="noStrike">
                <a:solidFill>
                  <a:srgbClr val="FFFFFF"/>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39" name="Google Shape;39;p20"/>
          <p:cNvSpPr txBox="1"/>
          <p:nvPr>
            <p:ph type="title"/>
          </p:nvPr>
        </p:nvSpPr>
        <p:spPr>
          <a:xfrm>
            <a:off x="1911096" y="2423160"/>
            <a:ext cx="8366760" cy="265176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4700"/>
              <a:buFont typeface="Poppins"/>
              <a:buNone/>
              <a:defRPr b="0" i="0" sz="4700" u="none" cap="none" strike="noStrike">
                <a:solidFill>
                  <a:srgbClr val="FFFFFF"/>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Quote / Pull-quote">
  <p:cSld name="08 · Quote / Pull-quote">
    <p:bg>
      <p:bgPr>
        <a:solidFill>
          <a:srgbClr val="E8EBF2"/>
        </a:solidFill>
      </p:bgPr>
    </p:bg>
    <p:spTree>
      <p:nvGrpSpPr>
        <p:cNvPr id="40" name="Shape 40"/>
        <p:cNvGrpSpPr/>
        <p:nvPr/>
      </p:nvGrpSpPr>
      <p:grpSpPr>
        <a:xfrm>
          <a:off x="0" y="0"/>
          <a:ext cx="0" cy="0"/>
          <a:chOff x="0" y="0"/>
          <a:chExt cx="0" cy="0"/>
        </a:xfrm>
      </p:grpSpPr>
      <p:pic>
        <p:nvPicPr>
          <p:cNvPr id="41" name="Google Shape;41;p21"/>
          <p:cNvPicPr preferRelativeResize="0"/>
          <p:nvPr/>
        </p:nvPicPr>
        <p:blipFill rotWithShape="1">
          <a:blip r:embed="rId2">
            <a:alphaModFix/>
          </a:blip>
          <a:srcRect b="0" l="0" r="0" t="0"/>
          <a:stretch/>
        </p:blipFill>
        <p:spPr>
          <a:xfrm>
            <a:off x="0" y="0"/>
            <a:ext cx="12188952" cy="6858000"/>
          </a:xfrm>
          <a:prstGeom prst="rect">
            <a:avLst/>
          </a:prstGeom>
          <a:noFill/>
          <a:ln>
            <a:noFill/>
          </a:ln>
        </p:spPr>
      </p:pic>
      <p:pic>
        <p:nvPicPr>
          <p:cNvPr id="42" name="Google Shape;42;p21"/>
          <p:cNvPicPr preferRelativeResize="0"/>
          <p:nvPr/>
        </p:nvPicPr>
        <p:blipFill rotWithShape="1">
          <a:blip r:embed="rId3">
            <a:alphaModFix/>
          </a:blip>
          <a:srcRect b="0" l="0" r="0" t="0"/>
          <a:stretch/>
        </p:blipFill>
        <p:spPr>
          <a:xfrm>
            <a:off x="10735056" y="6126480"/>
            <a:ext cx="941832" cy="201168"/>
          </a:xfrm>
          <a:prstGeom prst="rect">
            <a:avLst/>
          </a:prstGeom>
          <a:noFill/>
          <a:ln>
            <a:noFill/>
          </a:ln>
        </p:spPr>
      </p:pic>
      <p:sp>
        <p:nvSpPr>
          <p:cNvPr id="43" name="Google Shape;43;p21"/>
          <p:cNvSpPr txBox="1"/>
          <p:nvPr>
            <p:ph idx="1" type="subTitle"/>
          </p:nvPr>
        </p:nvSpPr>
        <p:spPr>
          <a:xfrm>
            <a:off x="512064" y="182880"/>
            <a:ext cx="11164824" cy="274320"/>
          </a:xfrm>
          <a:prstGeom prst="rect">
            <a:avLst/>
          </a:prstGeom>
          <a:noFill/>
          <a:ln>
            <a:noFill/>
          </a:ln>
        </p:spPr>
        <p:txBody>
          <a:bodyPr anchorCtr="0" anchor="t" bIns="45700" lIns="91425" spcFirstLastPara="1" rIns="91425" wrap="square" tIns="45700">
            <a:noAutofit/>
          </a:bodyPr>
          <a:lstStyle>
            <a:lvl1pPr lvl="0" marR="0" rtl="0" algn="l">
              <a:spcBef>
                <a:spcPts val="240"/>
              </a:spcBef>
              <a:spcAft>
                <a:spcPts val="0"/>
              </a:spcAft>
              <a:buClr>
                <a:srgbClr val="848B93"/>
              </a:buClr>
              <a:buSzPts val="1200"/>
              <a:buFont typeface="Arial"/>
              <a:buChar char="•"/>
              <a:defRPr b="0" i="0" sz="1200" u="none" cap="none" strike="noStrike">
                <a:solidFill>
                  <a:srgbClr val="848B93"/>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44" name="Google Shape;44;p21"/>
          <p:cNvSpPr txBox="1"/>
          <p:nvPr>
            <p:ph type="title"/>
          </p:nvPr>
        </p:nvSpPr>
        <p:spPr>
          <a:xfrm>
            <a:off x="1463040" y="2103120"/>
            <a:ext cx="9262872" cy="201168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333333"/>
              </a:buClr>
              <a:buSzPts val="2700"/>
              <a:buFont typeface="Poppins"/>
              <a:buNone/>
              <a:defRPr b="0" i="1" sz="2700" u="none" cap="none" strike="noStrike">
                <a:solidFill>
                  <a:srgbClr val="333333"/>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 name="Google Shape;45;p21"/>
          <p:cNvSpPr txBox="1"/>
          <p:nvPr>
            <p:ph idx="2" type="subTitle"/>
          </p:nvPr>
        </p:nvSpPr>
        <p:spPr>
          <a:xfrm>
            <a:off x="512064" y="4434840"/>
            <a:ext cx="11164824" cy="365760"/>
          </a:xfrm>
          <a:prstGeom prst="rect">
            <a:avLst/>
          </a:prstGeom>
          <a:noFill/>
          <a:ln>
            <a:noFill/>
          </a:ln>
        </p:spPr>
        <p:txBody>
          <a:bodyPr anchorCtr="0" anchor="t" bIns="45700" lIns="91425" spcFirstLastPara="1" rIns="91425" wrap="square" tIns="45700">
            <a:noAutofit/>
          </a:bodyPr>
          <a:lstStyle>
            <a:lvl1pPr lvl="0" marR="0" rtl="0" algn="ctr">
              <a:spcBef>
                <a:spcPts val="320"/>
              </a:spcBef>
              <a:spcAft>
                <a:spcPts val="0"/>
              </a:spcAft>
              <a:buClr>
                <a:srgbClr val="1B43D4"/>
              </a:buClr>
              <a:buSzPts val="1600"/>
              <a:buFont typeface="Arial"/>
              <a:buChar char="•"/>
              <a:defRPr b="0" i="0" sz="1600" u="none" cap="none" strike="noStrike">
                <a:solidFill>
                  <a:srgbClr val="1B43D4"/>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
        <p:nvSpPr>
          <p:cNvPr id="46" name="Google Shape;46;p21"/>
          <p:cNvSpPr txBox="1"/>
          <p:nvPr>
            <p:ph idx="3" type="subTitle"/>
          </p:nvPr>
        </p:nvSpPr>
        <p:spPr>
          <a:xfrm>
            <a:off x="512064" y="4846320"/>
            <a:ext cx="11164824" cy="320040"/>
          </a:xfrm>
          <a:prstGeom prst="rect">
            <a:avLst/>
          </a:prstGeom>
          <a:noFill/>
          <a:ln>
            <a:noFill/>
          </a:ln>
        </p:spPr>
        <p:txBody>
          <a:bodyPr anchorCtr="0" anchor="t" bIns="45700" lIns="91425" spcFirstLastPara="1" rIns="91425" wrap="square" tIns="45700">
            <a:noAutofit/>
          </a:bodyPr>
          <a:lstStyle>
            <a:lvl1pPr lvl="0" marR="0" rtl="0" algn="ctr">
              <a:spcBef>
                <a:spcPts val="240"/>
              </a:spcBef>
              <a:spcAft>
                <a:spcPts val="0"/>
              </a:spcAft>
              <a:buClr>
                <a:srgbClr val="848B93"/>
              </a:buClr>
              <a:buSzPts val="1200"/>
              <a:buFont typeface="Arial"/>
              <a:buChar char="•"/>
              <a:defRPr b="0" i="0" sz="1200" u="none" cap="none" strike="noStrike">
                <a:solidFill>
                  <a:srgbClr val="848B93"/>
                </a:solidFill>
                <a:latin typeface="Poppins"/>
                <a:ea typeface="Poppins"/>
                <a:cs typeface="Poppins"/>
                <a:sym typeface="Poppins"/>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8"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1.png"/><Relationship Id="rId7"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4.png"/><Relationship Id="rId9" Type="http://schemas.openxmlformats.org/officeDocument/2006/relationships/image" Target="../media/image35.png"/><Relationship Id="rId5" Type="http://schemas.openxmlformats.org/officeDocument/2006/relationships/image" Target="../media/image23.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4.png"/><Relationship Id="rId9"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33.png"/><Relationship Id="rId8"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24.png"/><Relationship Id="rId9"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33.png"/><Relationship Id="rId8"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hyperlink" Target="https://www.linkedin.com/in/jessica-eggen-579b50155" TargetMode="External"/><Relationship Id="rId5" Type="http://schemas.openxmlformats.org/officeDocument/2006/relationships/hyperlink" Target="mailto:info@xomnia.com" TargetMode="External"/><Relationship Id="rId6" Type="http://schemas.openxmlformats.org/officeDocument/2006/relationships/hyperlink" Target="mailto:amsterdam@pyladies.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53" name="Shape 53"/>
        <p:cNvGrpSpPr/>
        <p:nvPr/>
      </p:nvGrpSpPr>
      <p:grpSpPr>
        <a:xfrm>
          <a:off x="0" y="0"/>
          <a:ext cx="0" cy="0"/>
          <a:chOff x="0" y="0"/>
          <a:chExt cx="0" cy="0"/>
        </a:xfrm>
      </p:grpSpPr>
      <p:sp>
        <p:nvSpPr>
          <p:cNvPr id="54" name="Google Shape;54;p1"/>
          <p:cNvSpPr/>
          <p:nvPr/>
        </p:nvSpPr>
        <p:spPr>
          <a:xfrm>
            <a:off x="0" y="0"/>
            <a:ext cx="12188952" cy="3931920"/>
          </a:xfrm>
          <a:prstGeom prst="rect">
            <a:avLst/>
          </a:prstGeom>
          <a:solidFill>
            <a:srgbClr val="0E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skills/user/xomnia-slide-builder/assets/logo-white.png" id="55" name="Google Shape;55;p1"/>
          <p:cNvPicPr preferRelativeResize="0"/>
          <p:nvPr/>
        </p:nvPicPr>
        <p:blipFill rotWithShape="1">
          <a:blip r:embed="rId3">
            <a:alphaModFix/>
          </a:blip>
          <a:srcRect b="0" l="0" r="0" t="0"/>
          <a:stretch/>
        </p:blipFill>
        <p:spPr>
          <a:xfrm>
            <a:off x="521208" y="566928"/>
            <a:ext cx="1673352" cy="356616"/>
          </a:xfrm>
          <a:prstGeom prst="rect">
            <a:avLst/>
          </a:prstGeom>
          <a:noFill/>
          <a:ln>
            <a:noFill/>
          </a:ln>
        </p:spPr>
      </p:pic>
      <p:pic>
        <p:nvPicPr>
          <p:cNvPr descr="/mnt/skills/user/xomnia-slide-builder/assets/logo-wmai.png" id="56" name="Google Shape;56;p1"/>
          <p:cNvPicPr preferRelativeResize="0"/>
          <p:nvPr/>
        </p:nvPicPr>
        <p:blipFill rotWithShape="1">
          <a:blip r:embed="rId4">
            <a:alphaModFix/>
          </a:blip>
          <a:srcRect b="0" l="0" r="0" t="0"/>
          <a:stretch/>
        </p:blipFill>
        <p:spPr>
          <a:xfrm>
            <a:off x="10222992" y="502920"/>
            <a:ext cx="1453896" cy="512064"/>
          </a:xfrm>
          <a:prstGeom prst="rect">
            <a:avLst/>
          </a:prstGeom>
          <a:noFill/>
          <a:ln>
            <a:noFill/>
          </a:ln>
        </p:spPr>
      </p:pic>
      <p:sp>
        <p:nvSpPr>
          <p:cNvPr id="57" name="Google Shape;57;p1"/>
          <p:cNvSpPr/>
          <p:nvPr/>
        </p:nvSpPr>
        <p:spPr>
          <a:xfrm>
            <a:off x="521199" y="4636000"/>
            <a:ext cx="8652900" cy="1005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1"/>
              </a:buClr>
              <a:buSzPts val="2800"/>
              <a:buFont typeface="Poppins"/>
              <a:buNone/>
            </a:pPr>
            <a:r>
              <a:rPr lang="en-US" sz="2800">
                <a:solidFill>
                  <a:schemeClr val="accent1"/>
                </a:solidFill>
                <a:latin typeface="Poppins"/>
                <a:ea typeface="Poppins"/>
                <a:cs typeface="Poppins"/>
                <a:sym typeface="Poppins"/>
              </a:rPr>
              <a:t>A hands-on workshop  ·  90 minutes</a:t>
            </a:r>
            <a:endParaRPr sz="3700">
              <a:solidFill>
                <a:srgbClr val="1B43D4"/>
              </a:solidFill>
              <a:latin typeface="Poppins"/>
              <a:ea typeface="Poppins"/>
              <a:cs typeface="Poppins"/>
              <a:sym typeface="Poppins"/>
            </a:endParaRPr>
          </a:p>
        </p:txBody>
      </p:sp>
      <p:sp>
        <p:nvSpPr>
          <p:cNvPr id="58" name="Google Shape;58;p1"/>
          <p:cNvSpPr/>
          <p:nvPr/>
        </p:nvSpPr>
        <p:spPr>
          <a:xfrm>
            <a:off x="9374558" y="5532120"/>
            <a:ext cx="960000" cy="960000"/>
          </a:xfrm>
          <a:prstGeom prst="ellipse">
            <a:avLst/>
          </a:prstGeom>
          <a:solidFill>
            <a:srgbClr val="1B4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
          <p:cNvSpPr/>
          <p:nvPr/>
        </p:nvSpPr>
        <p:spPr>
          <a:xfrm>
            <a:off x="9875525" y="5532125"/>
            <a:ext cx="2811900" cy="960000"/>
          </a:xfrm>
          <a:prstGeom prst="rect">
            <a:avLst/>
          </a:prstGeom>
          <a:solidFill>
            <a:srgbClr val="1B4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
          <p:cNvSpPr/>
          <p:nvPr/>
        </p:nvSpPr>
        <p:spPr>
          <a:xfrm>
            <a:off x="12207240" y="5532120"/>
            <a:ext cx="960120" cy="960120"/>
          </a:xfrm>
          <a:prstGeom prst="ellipse">
            <a:avLst/>
          </a:prstGeom>
          <a:solidFill>
            <a:srgbClr val="1B4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 name="Google Shape;61;p1"/>
          <p:cNvPicPr preferRelativeResize="0"/>
          <p:nvPr/>
        </p:nvPicPr>
        <p:blipFill rotWithShape="1">
          <a:blip r:embed="rId5">
            <a:alphaModFix/>
          </a:blip>
          <a:srcRect b="29085" l="0" r="0" t="26613"/>
          <a:stretch/>
        </p:blipFill>
        <p:spPr>
          <a:xfrm>
            <a:off x="8832249" y="2362150"/>
            <a:ext cx="3299899" cy="1461901"/>
          </a:xfrm>
          <a:prstGeom prst="rect">
            <a:avLst/>
          </a:prstGeom>
          <a:noFill/>
          <a:ln>
            <a:noFill/>
          </a:ln>
        </p:spPr>
      </p:pic>
      <p:sp>
        <p:nvSpPr>
          <p:cNvPr id="62" name="Google Shape;62;p1"/>
          <p:cNvSpPr/>
          <p:nvPr/>
        </p:nvSpPr>
        <p:spPr>
          <a:xfrm>
            <a:off x="521195" y="1277080"/>
            <a:ext cx="105156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Poppins"/>
              <a:buNone/>
            </a:pPr>
            <a:r>
              <a:rPr lang="en-US" sz="5600">
                <a:solidFill>
                  <a:srgbClr val="FFFFFF"/>
                </a:solidFill>
                <a:latin typeface="Poppins"/>
                <a:ea typeface="Poppins"/>
                <a:cs typeface="Poppins"/>
                <a:sym typeface="Poppins"/>
              </a:rPr>
              <a:t>Feed an AI-agentic beast with proper data</a:t>
            </a:r>
            <a:endParaRPr b="0" i="0" sz="5600" u="none" cap="none" strike="noStrike">
              <a:solidFill>
                <a:srgbClr val="000000"/>
              </a:solidFill>
              <a:latin typeface="Calibri"/>
              <a:ea typeface="Calibri"/>
              <a:cs typeface="Calibri"/>
              <a:sym typeface="Calibri"/>
            </a:endParaRPr>
          </a:p>
        </p:txBody>
      </p:sp>
      <p:sp>
        <p:nvSpPr>
          <p:cNvPr id="63" name="Google Shape;63;p1"/>
          <p:cNvSpPr/>
          <p:nvPr/>
        </p:nvSpPr>
        <p:spPr>
          <a:xfrm>
            <a:off x="9616400" y="5509226"/>
            <a:ext cx="4996200" cy="1005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1"/>
              </a:buClr>
              <a:buSzPts val="2800"/>
              <a:buFont typeface="Poppins"/>
              <a:buNone/>
            </a:pPr>
            <a:r>
              <a:rPr lang="en-US" sz="2400">
                <a:solidFill>
                  <a:schemeClr val="lt1"/>
                </a:solidFill>
                <a:latin typeface="Poppins"/>
                <a:ea typeface="Poppins"/>
                <a:cs typeface="Poppins"/>
                <a:sym typeface="Poppins"/>
              </a:rPr>
              <a:t>Jessica Eggen</a:t>
            </a:r>
            <a:endParaRPr sz="3300">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D4"/>
        </a:solidFill>
      </p:bgPr>
    </p:bg>
    <p:spTree>
      <p:nvGrpSpPr>
        <p:cNvPr id="68" name="Shape 68"/>
        <p:cNvGrpSpPr/>
        <p:nvPr/>
      </p:nvGrpSpPr>
      <p:grpSpPr>
        <a:xfrm>
          <a:off x="0" y="0"/>
          <a:ext cx="0" cy="0"/>
          <a:chOff x="0" y="0"/>
          <a:chExt cx="0" cy="0"/>
        </a:xfrm>
      </p:grpSpPr>
      <p:pic>
        <p:nvPicPr>
          <p:cNvPr descr="/mnt/skills/user/xomnia-slide-builder/assets/bg-blue.png" id="69" name="Google Shape;69;p2"/>
          <p:cNvPicPr preferRelativeResize="0"/>
          <p:nvPr/>
        </p:nvPicPr>
        <p:blipFill rotWithShape="1">
          <a:blip r:embed="rId3">
            <a:alphaModFix/>
          </a:blip>
          <a:srcRect b="0" l="0" r="0" t="0"/>
          <a:stretch/>
        </p:blipFill>
        <p:spPr>
          <a:xfrm>
            <a:off x="0" y="0"/>
            <a:ext cx="12188952" cy="6858000"/>
          </a:xfrm>
          <a:prstGeom prst="rect">
            <a:avLst/>
          </a:prstGeom>
          <a:noFill/>
          <a:ln>
            <a:noFill/>
          </a:ln>
        </p:spPr>
      </p:pic>
      <p:pic>
        <p:nvPicPr>
          <p:cNvPr descr="/mnt/skills/user/xomnia-slide-builder/assets/logo-white.png" id="70" name="Google Shape;70;p2"/>
          <p:cNvPicPr preferRelativeResize="0"/>
          <p:nvPr/>
        </p:nvPicPr>
        <p:blipFill rotWithShape="1">
          <a:blip r:embed="rId4">
            <a:alphaModFix/>
          </a:blip>
          <a:srcRect b="0" l="0" r="0" t="0"/>
          <a:stretch/>
        </p:blipFill>
        <p:spPr>
          <a:xfrm>
            <a:off x="10735056" y="6126480"/>
            <a:ext cx="941832" cy="201168"/>
          </a:xfrm>
          <a:prstGeom prst="rect">
            <a:avLst/>
          </a:prstGeom>
          <a:noFill/>
          <a:ln>
            <a:noFill/>
          </a:ln>
        </p:spPr>
      </p:pic>
      <p:sp>
        <p:nvSpPr>
          <p:cNvPr id="71" name="Google Shape;71;p2"/>
          <p:cNvSpPr/>
          <p:nvPr/>
        </p:nvSpPr>
        <p:spPr>
          <a:xfrm>
            <a:off x="10186416" y="6126480"/>
            <a:ext cx="5029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0BBDD"/>
              </a:buClr>
              <a:buSzPts val="900"/>
              <a:buFont typeface="Poppins"/>
              <a:buNone/>
            </a:pPr>
            <a:r>
              <a:rPr b="0" i="0" lang="en-US" sz="900" u="none" cap="none" strike="noStrike">
                <a:solidFill>
                  <a:srgbClr val="A0BBDD"/>
                </a:solidFill>
                <a:latin typeface="Poppins"/>
                <a:ea typeface="Poppins"/>
                <a:cs typeface="Poppins"/>
                <a:sym typeface="Poppins"/>
              </a:rPr>
              <a:t>02</a:t>
            </a:r>
            <a:endParaRPr b="0" i="0" sz="900" u="none" cap="none" strike="noStrike">
              <a:solidFill>
                <a:schemeClr val="dk1"/>
              </a:solidFill>
              <a:latin typeface="Poppins"/>
              <a:ea typeface="Poppins"/>
              <a:cs typeface="Poppins"/>
              <a:sym typeface="Poppins"/>
            </a:endParaRPr>
          </a:p>
        </p:txBody>
      </p:sp>
      <p:sp>
        <p:nvSpPr>
          <p:cNvPr id="72" name="Google Shape;72;p2"/>
          <p:cNvSpPr/>
          <p:nvPr/>
        </p:nvSpPr>
        <p:spPr>
          <a:xfrm>
            <a:off x="512064" y="1691640"/>
            <a:ext cx="2743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Poppins"/>
              <a:buNone/>
            </a:pPr>
            <a:r>
              <a:rPr b="0" i="0" lang="en-US" sz="1600" u="none" cap="none" strike="noStrike">
                <a:solidFill>
                  <a:srgbClr val="FFFFFF"/>
                </a:solidFill>
                <a:latin typeface="Poppins"/>
                <a:ea typeface="Poppins"/>
                <a:cs typeface="Poppins"/>
                <a:sym typeface="Poppins"/>
              </a:rPr>
              <a:t>01.</a:t>
            </a:r>
            <a:endParaRPr b="0" i="0" sz="1600" u="none" cap="none" strike="noStrike">
              <a:solidFill>
                <a:schemeClr val="dk1"/>
              </a:solidFill>
              <a:latin typeface="Poppins"/>
              <a:ea typeface="Poppins"/>
              <a:cs typeface="Poppins"/>
              <a:sym typeface="Poppins"/>
            </a:endParaRPr>
          </a:p>
        </p:txBody>
      </p:sp>
      <p:sp>
        <p:nvSpPr>
          <p:cNvPr id="73" name="Google Shape;73;p2"/>
          <p:cNvSpPr/>
          <p:nvPr/>
        </p:nvSpPr>
        <p:spPr>
          <a:xfrm>
            <a:off x="457200" y="2103120"/>
            <a:ext cx="960120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Poppins"/>
              <a:buNone/>
            </a:pPr>
            <a:r>
              <a:rPr b="0" i="0" lang="en-US" sz="6000" u="none" cap="none" strike="noStrike">
                <a:solidFill>
                  <a:srgbClr val="FFFFFF"/>
                </a:solidFill>
                <a:latin typeface="Poppins"/>
                <a:ea typeface="Poppins"/>
                <a:cs typeface="Poppins"/>
                <a:sym typeface="Poppins"/>
              </a:rPr>
              <a:t>Welcome</a:t>
            </a:r>
            <a:endParaRPr b="0" i="0" sz="6000" u="none" cap="none" strike="noStrike">
              <a:solidFill>
                <a:schemeClr val="dk1"/>
              </a:solidFill>
              <a:latin typeface="Poppins"/>
              <a:ea typeface="Poppins"/>
              <a:cs typeface="Poppins"/>
              <a:sym typeface="Poppins"/>
            </a:endParaRPr>
          </a:p>
          <a:p>
            <a:pPr indent="0" lvl="0" marL="0" marR="0" rtl="0" algn="l">
              <a:spcBef>
                <a:spcPts val="0"/>
              </a:spcBef>
              <a:spcAft>
                <a:spcPts val="0"/>
              </a:spcAft>
              <a:buClr>
                <a:srgbClr val="FFFFFF"/>
              </a:buClr>
              <a:buSzPts val="6000"/>
              <a:buFont typeface="Poppins"/>
              <a:buNone/>
            </a:pPr>
            <a:r>
              <a:t/>
            </a:r>
            <a:endParaRPr b="0" i="0" sz="6000" u="none" cap="none" strike="noStrike">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78" name="Shape 78"/>
        <p:cNvGrpSpPr/>
        <p:nvPr/>
      </p:nvGrpSpPr>
      <p:grpSpPr>
        <a:xfrm>
          <a:off x="0" y="0"/>
          <a:ext cx="0" cy="0"/>
          <a:chOff x="0" y="0"/>
          <a:chExt cx="0" cy="0"/>
        </a:xfrm>
      </p:grpSpPr>
      <p:pic>
        <p:nvPicPr>
          <p:cNvPr descr="/mnt/skills/user/xomnia-slide-builder/assets/union-bottom-left.png" id="79" name="Google Shape;79;g409854c100a_0_115"/>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80" name="Google Shape;80;g409854c100a_0_115"/>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81" name="Google Shape;81;g409854c100a_0_115"/>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82" name="Google Shape;82;g409854c100a_0_115"/>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83" name="Google Shape;83;g409854c100a_0_115"/>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sp>
        <p:nvSpPr>
          <p:cNvPr id="84" name="Google Shape;84;g409854c100a_0_115"/>
          <p:cNvSpPr/>
          <p:nvPr/>
        </p:nvSpPr>
        <p:spPr>
          <a:xfrm>
            <a:off x="502925" y="1188725"/>
            <a:ext cx="11183100" cy="2991900"/>
          </a:xfrm>
          <a:prstGeom prst="rect">
            <a:avLst/>
          </a:prstGeom>
          <a:noFill/>
          <a:ln>
            <a:noFill/>
          </a:ln>
        </p:spPr>
        <p:txBody>
          <a:bodyPr anchorCtr="0" anchor="ctr" bIns="45700" lIns="91425" spcFirstLastPara="1" rIns="91425" wrap="square" tIns="45700">
            <a:noAutofit/>
          </a:bodyPr>
          <a:lstStyle/>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My own background</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Who are you?</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My current work struggles </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Prompt design vs data design</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D4"/>
        </a:solidFill>
      </p:bgPr>
    </p:bg>
    <p:spTree>
      <p:nvGrpSpPr>
        <p:cNvPr id="89" name="Shape 89"/>
        <p:cNvGrpSpPr/>
        <p:nvPr/>
      </p:nvGrpSpPr>
      <p:grpSpPr>
        <a:xfrm>
          <a:off x="0" y="0"/>
          <a:ext cx="0" cy="0"/>
          <a:chOff x="0" y="0"/>
          <a:chExt cx="0" cy="0"/>
        </a:xfrm>
      </p:grpSpPr>
      <p:pic>
        <p:nvPicPr>
          <p:cNvPr descr="/mnt/skills/user/xomnia-slide-builder/assets/bg-blue.png" id="90" name="Google Shape;90;g409854c100a_0_311"/>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white.png" id="91" name="Google Shape;91;g409854c100a_0_311"/>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92" name="Google Shape;92;g409854c100a_0_311"/>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0BBDD"/>
              </a:buClr>
              <a:buSzPts val="900"/>
              <a:buFont typeface="Poppins"/>
              <a:buNone/>
            </a:pPr>
            <a:r>
              <a:rPr b="0" i="0" lang="en-US" sz="900" u="none" cap="none" strike="noStrike">
                <a:solidFill>
                  <a:srgbClr val="A0BBDD"/>
                </a:solidFill>
                <a:latin typeface="Poppins"/>
                <a:ea typeface="Poppins"/>
                <a:cs typeface="Poppins"/>
                <a:sym typeface="Poppins"/>
              </a:rPr>
              <a:t>04</a:t>
            </a:r>
            <a:endParaRPr b="0" i="0" sz="900" u="none" cap="none" strike="noStrike">
              <a:solidFill>
                <a:schemeClr val="dk1"/>
              </a:solidFill>
              <a:latin typeface="Poppins"/>
              <a:ea typeface="Poppins"/>
              <a:cs typeface="Poppins"/>
              <a:sym typeface="Poppins"/>
            </a:endParaRPr>
          </a:p>
        </p:txBody>
      </p:sp>
      <p:sp>
        <p:nvSpPr>
          <p:cNvPr id="93" name="Google Shape;93;g409854c100a_0_311"/>
          <p:cNvSpPr/>
          <p:nvPr/>
        </p:nvSpPr>
        <p:spPr>
          <a:xfrm>
            <a:off x="1664761" y="1901952"/>
            <a:ext cx="83667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Poppins"/>
              <a:buNone/>
            </a:pPr>
            <a:r>
              <a:rPr b="0" i="0" lang="en-US" sz="2000" u="none" cap="none" strike="noStrike">
                <a:solidFill>
                  <a:srgbClr val="FFFFFF"/>
                </a:solidFill>
                <a:latin typeface="Poppins"/>
                <a:ea typeface="Poppins"/>
                <a:cs typeface="Poppins"/>
                <a:sym typeface="Poppins"/>
              </a:rPr>
              <a:t>Workshop </a:t>
            </a:r>
            <a:r>
              <a:rPr lang="en-US" sz="2000">
                <a:solidFill>
                  <a:srgbClr val="FFFFFF"/>
                </a:solidFill>
                <a:latin typeface="Poppins"/>
                <a:ea typeface="Poppins"/>
                <a:cs typeface="Poppins"/>
                <a:sym typeface="Poppins"/>
              </a:rPr>
              <a:t>goal</a:t>
            </a:r>
            <a:r>
              <a:rPr b="0" i="0" lang="en-US" sz="2000" u="none" cap="none" strike="noStrike">
                <a:solidFill>
                  <a:srgbClr val="FFFFFF"/>
                </a:solidFill>
                <a:latin typeface="Poppins"/>
                <a:ea typeface="Poppins"/>
                <a:cs typeface="Poppins"/>
                <a:sym typeface="Poppins"/>
              </a:rPr>
              <a:t>:</a:t>
            </a:r>
            <a:endParaRPr b="0" i="0" sz="2000" u="none" cap="none" strike="noStrike">
              <a:solidFill>
                <a:schemeClr val="dk1"/>
              </a:solidFill>
              <a:latin typeface="Poppins"/>
              <a:ea typeface="Poppins"/>
              <a:cs typeface="Poppins"/>
              <a:sym typeface="Poppins"/>
            </a:endParaRPr>
          </a:p>
        </p:txBody>
      </p:sp>
      <p:sp>
        <p:nvSpPr>
          <p:cNvPr id="94" name="Google Shape;94;g409854c100a_0_311"/>
          <p:cNvSpPr/>
          <p:nvPr/>
        </p:nvSpPr>
        <p:spPr>
          <a:xfrm>
            <a:off x="1418461" y="2423150"/>
            <a:ext cx="8859300" cy="2651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700"/>
              <a:buFont typeface="Poppins"/>
              <a:buNone/>
            </a:pPr>
            <a:r>
              <a:rPr lang="en-US" sz="3700">
                <a:solidFill>
                  <a:srgbClr val="FFFFFF"/>
                </a:solidFill>
                <a:latin typeface="Poppins"/>
                <a:ea typeface="Poppins"/>
                <a:cs typeface="Poppins"/>
                <a:sym typeface="Poppins"/>
              </a:rPr>
              <a:t>Prepare your data and system architecture to enable </a:t>
            </a:r>
            <a:endParaRPr sz="37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4700"/>
              <a:buFont typeface="Poppins"/>
              <a:buNone/>
            </a:pPr>
            <a:r>
              <a:rPr lang="en-US" sz="3700">
                <a:solidFill>
                  <a:srgbClr val="FFFFFF"/>
                </a:solidFill>
                <a:latin typeface="Poppins"/>
                <a:ea typeface="Poppins"/>
                <a:cs typeface="Poppins"/>
                <a:sym typeface="Poppins"/>
              </a:rPr>
              <a:t>effective LLM reasoning and deliver trustworthy, accurate results.</a:t>
            </a:r>
            <a:endParaRPr sz="37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4700"/>
              <a:buFont typeface="Poppins"/>
              <a:buNone/>
            </a:pPr>
            <a:r>
              <a:t/>
            </a:r>
            <a:endParaRPr sz="3700">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99" name="Shape 99"/>
        <p:cNvGrpSpPr/>
        <p:nvPr/>
      </p:nvGrpSpPr>
      <p:grpSpPr>
        <a:xfrm>
          <a:off x="0" y="0"/>
          <a:ext cx="0" cy="0"/>
          <a:chOff x="0" y="0"/>
          <a:chExt cx="0" cy="0"/>
        </a:xfrm>
      </p:grpSpPr>
      <p:pic>
        <p:nvPicPr>
          <p:cNvPr descr="/mnt/skills/user/xomnia-slide-builder/assets/union-bottom-left.png" id="100" name="Google Shape;100;g409854c100a_0_135"/>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01" name="Google Shape;101;g409854c100a_0_135"/>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02" name="Google Shape;102;g409854c100a_0_135"/>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03" name="Google Shape;103;g409854c100a_0_135"/>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04" name="Google Shape;104;g409854c100a_0_135"/>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id="105" name="Google Shape;105;g409854c100a_0_135"/>
          <p:cNvPicPr preferRelativeResize="0"/>
          <p:nvPr/>
        </p:nvPicPr>
        <p:blipFill>
          <a:blip r:embed="rId6">
            <a:alphaModFix/>
          </a:blip>
          <a:stretch>
            <a:fillRect/>
          </a:stretch>
        </p:blipFill>
        <p:spPr>
          <a:xfrm>
            <a:off x="1035200" y="1384850"/>
            <a:ext cx="5613249" cy="2599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110" name="Shape 110"/>
        <p:cNvGrpSpPr/>
        <p:nvPr/>
      </p:nvGrpSpPr>
      <p:grpSpPr>
        <a:xfrm>
          <a:off x="0" y="0"/>
          <a:ext cx="0" cy="0"/>
          <a:chOff x="0" y="0"/>
          <a:chExt cx="0" cy="0"/>
        </a:xfrm>
      </p:grpSpPr>
      <p:pic>
        <p:nvPicPr>
          <p:cNvPr descr="/mnt/skills/user/xomnia-slide-builder/assets/union-bottom-left.png" id="111" name="Google Shape;111;g409854c100a_0_198"/>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12" name="Google Shape;112;g409854c100a_0_198"/>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13" name="Google Shape;113;g409854c100a_0_198"/>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14" name="Google Shape;114;g409854c100a_0_198"/>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15" name="Google Shape;115;g409854c100a_0_198"/>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id="116" name="Google Shape;116;g409854c100a_0_198"/>
          <p:cNvPicPr preferRelativeResize="0"/>
          <p:nvPr/>
        </p:nvPicPr>
        <p:blipFill>
          <a:blip r:embed="rId6">
            <a:alphaModFix/>
          </a:blip>
          <a:stretch>
            <a:fillRect/>
          </a:stretch>
        </p:blipFill>
        <p:spPr>
          <a:xfrm>
            <a:off x="1035200" y="1384850"/>
            <a:ext cx="5613249" cy="2599650"/>
          </a:xfrm>
          <a:prstGeom prst="rect">
            <a:avLst/>
          </a:prstGeom>
          <a:noFill/>
          <a:ln>
            <a:noFill/>
          </a:ln>
        </p:spPr>
      </p:pic>
      <p:pic>
        <p:nvPicPr>
          <p:cNvPr id="117" name="Google Shape;117;g409854c100a_0_198"/>
          <p:cNvPicPr preferRelativeResize="0"/>
          <p:nvPr/>
        </p:nvPicPr>
        <p:blipFill>
          <a:blip r:embed="rId7">
            <a:alphaModFix/>
          </a:blip>
          <a:stretch>
            <a:fillRect/>
          </a:stretch>
        </p:blipFill>
        <p:spPr>
          <a:xfrm>
            <a:off x="4906913" y="2151225"/>
            <a:ext cx="6369686" cy="2795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122" name="Shape 122"/>
        <p:cNvGrpSpPr/>
        <p:nvPr/>
      </p:nvGrpSpPr>
      <p:grpSpPr>
        <a:xfrm>
          <a:off x="0" y="0"/>
          <a:ext cx="0" cy="0"/>
          <a:chOff x="0" y="0"/>
          <a:chExt cx="0" cy="0"/>
        </a:xfrm>
      </p:grpSpPr>
      <p:pic>
        <p:nvPicPr>
          <p:cNvPr descr="/mnt/skills/user/xomnia-slide-builder/assets/union-bottom-left.png" id="123" name="Google Shape;123;g409854c100a_0_210"/>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24" name="Google Shape;124;g409854c100a_0_210"/>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25" name="Google Shape;125;g409854c100a_0_210"/>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26" name="Google Shape;126;g409854c100a_0_210"/>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27" name="Google Shape;127;g409854c100a_0_210"/>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id="128" name="Google Shape;128;g409854c100a_0_210"/>
          <p:cNvPicPr preferRelativeResize="0"/>
          <p:nvPr/>
        </p:nvPicPr>
        <p:blipFill>
          <a:blip r:embed="rId6">
            <a:alphaModFix/>
          </a:blip>
          <a:stretch>
            <a:fillRect/>
          </a:stretch>
        </p:blipFill>
        <p:spPr>
          <a:xfrm>
            <a:off x="1035200" y="1384850"/>
            <a:ext cx="5613249" cy="2599650"/>
          </a:xfrm>
          <a:prstGeom prst="rect">
            <a:avLst/>
          </a:prstGeom>
          <a:noFill/>
          <a:ln>
            <a:noFill/>
          </a:ln>
        </p:spPr>
      </p:pic>
      <p:pic>
        <p:nvPicPr>
          <p:cNvPr id="129" name="Google Shape;129;g409854c100a_0_210"/>
          <p:cNvPicPr preferRelativeResize="0"/>
          <p:nvPr/>
        </p:nvPicPr>
        <p:blipFill>
          <a:blip r:embed="rId7">
            <a:alphaModFix/>
          </a:blip>
          <a:stretch>
            <a:fillRect/>
          </a:stretch>
        </p:blipFill>
        <p:spPr>
          <a:xfrm>
            <a:off x="4906913" y="2151225"/>
            <a:ext cx="6369686" cy="2795775"/>
          </a:xfrm>
          <a:prstGeom prst="rect">
            <a:avLst/>
          </a:prstGeom>
          <a:noFill/>
          <a:ln>
            <a:noFill/>
          </a:ln>
        </p:spPr>
      </p:pic>
      <p:pic>
        <p:nvPicPr>
          <p:cNvPr id="130" name="Google Shape;130;g409854c100a_0_210"/>
          <p:cNvPicPr preferRelativeResize="0"/>
          <p:nvPr/>
        </p:nvPicPr>
        <p:blipFill>
          <a:blip r:embed="rId8">
            <a:alphaModFix/>
          </a:blip>
          <a:stretch>
            <a:fillRect/>
          </a:stretch>
        </p:blipFill>
        <p:spPr>
          <a:xfrm>
            <a:off x="4119715" y="3186700"/>
            <a:ext cx="6286257" cy="2599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135" name="Shape 135"/>
        <p:cNvGrpSpPr/>
        <p:nvPr/>
      </p:nvGrpSpPr>
      <p:grpSpPr>
        <a:xfrm>
          <a:off x="0" y="0"/>
          <a:ext cx="0" cy="0"/>
          <a:chOff x="0" y="0"/>
          <a:chExt cx="0" cy="0"/>
        </a:xfrm>
      </p:grpSpPr>
      <p:pic>
        <p:nvPicPr>
          <p:cNvPr descr="/mnt/skills/user/xomnia-slide-builder/assets/union-bottom-left.png" id="136" name="Google Shape;136;g409854c100a_0_223"/>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37" name="Google Shape;137;g409854c100a_0_223"/>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38" name="Google Shape;138;g409854c100a_0_223"/>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39" name="Google Shape;139;g409854c100a_0_223"/>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40" name="Google Shape;140;g409854c100a_0_223"/>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id="141" name="Google Shape;141;g409854c100a_0_223"/>
          <p:cNvPicPr preferRelativeResize="0"/>
          <p:nvPr/>
        </p:nvPicPr>
        <p:blipFill>
          <a:blip r:embed="rId6">
            <a:alphaModFix/>
          </a:blip>
          <a:stretch>
            <a:fillRect/>
          </a:stretch>
        </p:blipFill>
        <p:spPr>
          <a:xfrm>
            <a:off x="1035200" y="1384850"/>
            <a:ext cx="5613249" cy="2599650"/>
          </a:xfrm>
          <a:prstGeom prst="rect">
            <a:avLst/>
          </a:prstGeom>
          <a:noFill/>
          <a:ln>
            <a:noFill/>
          </a:ln>
        </p:spPr>
      </p:pic>
      <p:pic>
        <p:nvPicPr>
          <p:cNvPr id="142" name="Google Shape;142;g409854c100a_0_223"/>
          <p:cNvPicPr preferRelativeResize="0"/>
          <p:nvPr/>
        </p:nvPicPr>
        <p:blipFill>
          <a:blip r:embed="rId7">
            <a:alphaModFix/>
          </a:blip>
          <a:stretch>
            <a:fillRect/>
          </a:stretch>
        </p:blipFill>
        <p:spPr>
          <a:xfrm>
            <a:off x="4906913" y="2151225"/>
            <a:ext cx="6369686" cy="2795775"/>
          </a:xfrm>
          <a:prstGeom prst="rect">
            <a:avLst/>
          </a:prstGeom>
          <a:noFill/>
          <a:ln>
            <a:noFill/>
          </a:ln>
        </p:spPr>
      </p:pic>
      <p:pic>
        <p:nvPicPr>
          <p:cNvPr id="143" name="Google Shape;143;g409854c100a_0_223"/>
          <p:cNvPicPr preferRelativeResize="0"/>
          <p:nvPr/>
        </p:nvPicPr>
        <p:blipFill>
          <a:blip r:embed="rId8">
            <a:alphaModFix/>
          </a:blip>
          <a:stretch>
            <a:fillRect/>
          </a:stretch>
        </p:blipFill>
        <p:spPr>
          <a:xfrm>
            <a:off x="4119715" y="3186700"/>
            <a:ext cx="6286257" cy="2599650"/>
          </a:xfrm>
          <a:prstGeom prst="rect">
            <a:avLst/>
          </a:prstGeom>
          <a:noFill/>
          <a:ln>
            <a:noFill/>
          </a:ln>
        </p:spPr>
      </p:pic>
      <p:pic>
        <p:nvPicPr>
          <p:cNvPr id="144" name="Google Shape;144;g409854c100a_0_223"/>
          <p:cNvPicPr preferRelativeResize="0"/>
          <p:nvPr/>
        </p:nvPicPr>
        <p:blipFill>
          <a:blip r:embed="rId9">
            <a:alphaModFix/>
          </a:blip>
          <a:stretch>
            <a:fillRect/>
          </a:stretch>
        </p:blipFill>
        <p:spPr>
          <a:xfrm>
            <a:off x="1532075" y="3410696"/>
            <a:ext cx="5966326" cy="2430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149" name="Shape 149"/>
        <p:cNvGrpSpPr/>
        <p:nvPr/>
      </p:nvGrpSpPr>
      <p:grpSpPr>
        <a:xfrm>
          <a:off x="0" y="0"/>
          <a:ext cx="0" cy="0"/>
          <a:chOff x="0" y="0"/>
          <a:chExt cx="0" cy="0"/>
        </a:xfrm>
      </p:grpSpPr>
      <p:sp>
        <p:nvSpPr>
          <p:cNvPr id="150" name="Google Shape;150;g409854c100a_0_244"/>
          <p:cNvSpPr/>
          <p:nvPr/>
        </p:nvSpPr>
        <p:spPr>
          <a:xfrm>
            <a:off x="502925" y="1188725"/>
            <a:ext cx="11183100" cy="1575000"/>
          </a:xfrm>
          <a:prstGeom prst="rect">
            <a:avLst/>
          </a:prstGeom>
          <a:noFill/>
          <a:ln>
            <a:noFill/>
          </a:ln>
        </p:spPr>
        <p:txBody>
          <a:bodyPr anchorCtr="0" anchor="ctr" bIns="45700" lIns="91425" spcFirstLastPara="1" rIns="91425" wrap="square" tIns="45700">
            <a:noAutofit/>
          </a:bodyPr>
          <a:lstStyle/>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What can we adjust</a:t>
            </a: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p:txBody>
      </p:sp>
      <p:pic>
        <p:nvPicPr>
          <p:cNvPr descr="/mnt/skills/user/xomnia-slide-builder/assets/union-bottom-left.png" id="151" name="Google Shape;151;g409854c100a_0_244"/>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52" name="Google Shape;152;g409854c100a_0_244"/>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53" name="Google Shape;153;g409854c100a_0_244"/>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54" name="Google Shape;154;g409854c100a_0_244"/>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55" name="Google Shape;155;g409854c100a_0_244"/>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descr="/mnt/skills/user/xomnia-slide-builder/assets/icons/chat-message.png" id="156" name="Google Shape;156;g409854c100a_0_244"/>
          <p:cNvPicPr preferRelativeResize="0"/>
          <p:nvPr/>
        </p:nvPicPr>
        <p:blipFill rotWithShape="1">
          <a:blip r:embed="rId6">
            <a:alphaModFix/>
          </a:blip>
          <a:srcRect b="0" l="0" r="0" t="0"/>
          <a:stretch/>
        </p:blipFill>
        <p:spPr>
          <a:xfrm>
            <a:off x="3370630" y="3659706"/>
            <a:ext cx="1005840" cy="1005840"/>
          </a:xfrm>
          <a:prstGeom prst="rect">
            <a:avLst/>
          </a:prstGeom>
          <a:noFill/>
          <a:ln>
            <a:noFill/>
          </a:ln>
        </p:spPr>
      </p:pic>
      <p:pic>
        <p:nvPicPr>
          <p:cNvPr descr="/mnt/skills/user/xomnia-slide-builder/assets/icons/laptop-view.png" id="157" name="Google Shape;157;g409854c100a_0_244"/>
          <p:cNvPicPr preferRelativeResize="0"/>
          <p:nvPr/>
        </p:nvPicPr>
        <p:blipFill rotWithShape="1">
          <a:blip r:embed="rId7">
            <a:alphaModFix/>
          </a:blip>
          <a:srcRect b="0" l="0" r="0" t="0"/>
          <a:stretch/>
        </p:blipFill>
        <p:spPr>
          <a:xfrm>
            <a:off x="5178036" y="3778406"/>
            <a:ext cx="1122450" cy="768450"/>
          </a:xfrm>
          <a:prstGeom prst="rect">
            <a:avLst/>
          </a:prstGeom>
          <a:noFill/>
          <a:ln>
            <a:noFill/>
          </a:ln>
        </p:spPr>
      </p:pic>
      <p:sp>
        <p:nvSpPr>
          <p:cNvPr id="158" name="Google Shape;158;g409854c100a_0_244"/>
          <p:cNvSpPr/>
          <p:nvPr/>
        </p:nvSpPr>
        <p:spPr>
          <a:xfrm>
            <a:off x="5178025" y="45915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m1</a:t>
            </a:r>
            <a:endParaRPr sz="1800">
              <a:solidFill>
                <a:srgbClr val="000000"/>
              </a:solidFill>
              <a:latin typeface="Calibri"/>
              <a:ea typeface="Calibri"/>
              <a:cs typeface="Calibri"/>
              <a:sym typeface="Calibri"/>
            </a:endParaRPr>
          </a:p>
        </p:txBody>
      </p:sp>
      <p:pic>
        <p:nvPicPr>
          <p:cNvPr descr="make an icon with this style but then of 3 people" id="159" name="Google Shape;159;g409854c100a_0_244"/>
          <p:cNvPicPr preferRelativeResize="0"/>
          <p:nvPr/>
        </p:nvPicPr>
        <p:blipFill>
          <a:blip r:embed="rId8">
            <a:alphaModFix/>
          </a:blip>
          <a:stretch>
            <a:fillRect/>
          </a:stretch>
        </p:blipFill>
        <p:spPr>
          <a:xfrm>
            <a:off x="1401075" y="3623376"/>
            <a:ext cx="1005825" cy="1005804"/>
          </a:xfrm>
          <a:prstGeom prst="rect">
            <a:avLst/>
          </a:prstGeom>
          <a:noFill/>
          <a:ln>
            <a:noFill/>
          </a:ln>
        </p:spPr>
      </p:pic>
      <p:sp>
        <p:nvSpPr>
          <p:cNvPr id="160" name="Google Shape;160;g409854c100a_0_244"/>
          <p:cNvSpPr/>
          <p:nvPr/>
        </p:nvSpPr>
        <p:spPr>
          <a:xfrm>
            <a:off x="1172440" y="4591599"/>
            <a:ext cx="14631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Users</a:t>
            </a:r>
            <a:endParaRPr sz="1800">
              <a:solidFill>
                <a:srgbClr val="000000"/>
              </a:solidFill>
              <a:latin typeface="Calibri"/>
              <a:ea typeface="Calibri"/>
              <a:cs typeface="Calibri"/>
              <a:sym typeface="Calibri"/>
            </a:endParaRPr>
          </a:p>
        </p:txBody>
      </p:sp>
      <p:sp>
        <p:nvSpPr>
          <p:cNvPr id="161" name="Google Shape;161;g409854c100a_0_244"/>
          <p:cNvSpPr/>
          <p:nvPr/>
        </p:nvSpPr>
        <p:spPr>
          <a:xfrm>
            <a:off x="3289600" y="45915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Prompt</a:t>
            </a:r>
            <a:endParaRPr sz="1800">
              <a:solidFill>
                <a:srgbClr val="000000"/>
              </a:solidFill>
              <a:latin typeface="Calibri"/>
              <a:ea typeface="Calibri"/>
              <a:cs typeface="Calibri"/>
              <a:sym typeface="Calibri"/>
            </a:endParaRPr>
          </a:p>
        </p:txBody>
      </p:sp>
      <p:cxnSp>
        <p:nvCxnSpPr>
          <p:cNvPr id="162" name="Google Shape;162;g409854c100a_0_244"/>
          <p:cNvCxnSpPr/>
          <p:nvPr/>
        </p:nvCxnSpPr>
        <p:spPr>
          <a:xfrm>
            <a:off x="2576013" y="4135728"/>
            <a:ext cx="438600" cy="7500"/>
          </a:xfrm>
          <a:prstGeom prst="straightConnector1">
            <a:avLst/>
          </a:prstGeom>
          <a:noFill/>
          <a:ln cap="flat" cmpd="sng" w="28575">
            <a:solidFill>
              <a:schemeClr val="dk2"/>
            </a:solidFill>
            <a:prstDash val="solid"/>
            <a:round/>
            <a:headEnd len="med" w="med" type="none"/>
            <a:tailEnd len="med" w="med" type="triangle"/>
          </a:ln>
        </p:spPr>
      </p:cxnSp>
      <p:cxnSp>
        <p:nvCxnSpPr>
          <p:cNvPr id="163" name="Google Shape;163;g409854c100a_0_244"/>
          <p:cNvCxnSpPr/>
          <p:nvPr/>
        </p:nvCxnSpPr>
        <p:spPr>
          <a:xfrm>
            <a:off x="4557938" y="4158878"/>
            <a:ext cx="438600" cy="7500"/>
          </a:xfrm>
          <a:prstGeom prst="straightConnector1">
            <a:avLst/>
          </a:prstGeom>
          <a:noFill/>
          <a:ln cap="flat" cmpd="sng" w="28575">
            <a:solidFill>
              <a:schemeClr val="dk2"/>
            </a:solidFill>
            <a:prstDash val="solid"/>
            <a:round/>
            <a:headEnd len="med" w="med" type="none"/>
            <a:tailEnd len="med" w="med" type="triangle"/>
          </a:ln>
        </p:spPr>
      </p:cxnSp>
      <p:pic>
        <p:nvPicPr>
          <p:cNvPr id="164" name="Google Shape;164;g409854c100a_0_244" title="Icon.png"/>
          <p:cNvPicPr preferRelativeResize="0"/>
          <p:nvPr/>
        </p:nvPicPr>
        <p:blipFill rotWithShape="1">
          <a:blip r:embed="rId9">
            <a:alphaModFix/>
          </a:blip>
          <a:srcRect b="0" l="0" r="0" t="0"/>
          <a:stretch/>
        </p:blipFill>
        <p:spPr>
          <a:xfrm>
            <a:off x="5304786" y="1688170"/>
            <a:ext cx="914400" cy="914400"/>
          </a:xfrm>
          <a:prstGeom prst="rect">
            <a:avLst/>
          </a:prstGeom>
          <a:noFill/>
          <a:ln>
            <a:noFill/>
          </a:ln>
        </p:spPr>
      </p:pic>
      <p:sp>
        <p:nvSpPr>
          <p:cNvPr id="165" name="Google Shape;165;g409854c100a_0_244"/>
          <p:cNvSpPr/>
          <p:nvPr/>
        </p:nvSpPr>
        <p:spPr>
          <a:xfrm>
            <a:off x="5178025" y="26847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Data</a:t>
            </a:r>
            <a:endParaRPr sz="1800">
              <a:solidFill>
                <a:srgbClr val="000000"/>
              </a:solidFill>
              <a:latin typeface="Calibri"/>
              <a:ea typeface="Calibri"/>
              <a:cs typeface="Calibri"/>
              <a:sym typeface="Calibri"/>
            </a:endParaRPr>
          </a:p>
        </p:txBody>
      </p:sp>
      <p:cxnSp>
        <p:nvCxnSpPr>
          <p:cNvPr id="166" name="Google Shape;166;g409854c100a_0_244"/>
          <p:cNvCxnSpPr/>
          <p:nvPr/>
        </p:nvCxnSpPr>
        <p:spPr>
          <a:xfrm flipH="1">
            <a:off x="5756436" y="3204306"/>
            <a:ext cx="11100" cy="511800"/>
          </a:xfrm>
          <a:prstGeom prst="straightConnector1">
            <a:avLst/>
          </a:prstGeom>
          <a:noFill/>
          <a:ln cap="flat" cmpd="sng" w="28575">
            <a:solidFill>
              <a:schemeClr val="dk2"/>
            </a:solidFill>
            <a:prstDash val="solid"/>
            <a:round/>
            <a:headEnd len="med" w="med" type="none"/>
            <a:tailEnd len="med" w="med" type="triangle"/>
          </a:ln>
        </p:spPr>
      </p:cxnSp>
      <p:pic>
        <p:nvPicPr>
          <p:cNvPr descr="/mnt/skills/user/xomnia-slide-builder/assets/icons/laptop-view.png" id="167" name="Google Shape;167;g409854c100a_0_244"/>
          <p:cNvPicPr preferRelativeResize="0"/>
          <p:nvPr/>
        </p:nvPicPr>
        <p:blipFill rotWithShape="1">
          <a:blip r:embed="rId7">
            <a:alphaModFix/>
          </a:blip>
          <a:srcRect b="0" l="0" r="0" t="0"/>
          <a:stretch/>
        </p:blipFill>
        <p:spPr>
          <a:xfrm>
            <a:off x="6219186" y="3998006"/>
            <a:ext cx="1122450" cy="768450"/>
          </a:xfrm>
          <a:prstGeom prst="rect">
            <a:avLst/>
          </a:prstGeom>
          <a:noFill/>
          <a:ln>
            <a:noFill/>
          </a:ln>
        </p:spPr>
      </p:pic>
      <p:sp>
        <p:nvSpPr>
          <p:cNvPr id="168" name="Google Shape;168;g409854c100a_0_244"/>
          <p:cNvSpPr/>
          <p:nvPr/>
        </p:nvSpPr>
        <p:spPr>
          <a:xfrm>
            <a:off x="6219175" y="48111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m2</a:t>
            </a:r>
            <a:endParaRPr sz="1800">
              <a:solidFill>
                <a:srgbClr val="000000"/>
              </a:solidFill>
              <a:latin typeface="Calibri"/>
              <a:ea typeface="Calibri"/>
              <a:cs typeface="Calibri"/>
              <a:sym typeface="Calibri"/>
            </a:endParaRPr>
          </a:p>
        </p:txBody>
      </p:sp>
      <p:pic>
        <p:nvPicPr>
          <p:cNvPr descr="/mnt/skills/user/xomnia-slide-builder/assets/icons/laptop-view.png" id="169" name="Google Shape;169;g409854c100a_0_244"/>
          <p:cNvPicPr preferRelativeResize="0"/>
          <p:nvPr/>
        </p:nvPicPr>
        <p:blipFill rotWithShape="1">
          <a:blip r:embed="rId7">
            <a:alphaModFix/>
          </a:blip>
          <a:srcRect b="0" l="0" r="0" t="0"/>
          <a:stretch/>
        </p:blipFill>
        <p:spPr>
          <a:xfrm>
            <a:off x="7217236" y="4185006"/>
            <a:ext cx="1122450" cy="768450"/>
          </a:xfrm>
          <a:prstGeom prst="rect">
            <a:avLst/>
          </a:prstGeom>
          <a:noFill/>
          <a:ln>
            <a:noFill/>
          </a:ln>
        </p:spPr>
      </p:pic>
      <p:sp>
        <p:nvSpPr>
          <p:cNvPr id="170" name="Google Shape;170;g409854c100a_0_244"/>
          <p:cNvSpPr/>
          <p:nvPr/>
        </p:nvSpPr>
        <p:spPr>
          <a:xfrm>
            <a:off x="7217225" y="49981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m3</a:t>
            </a:r>
            <a:endParaRPr sz="18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AF0"/>
        </a:solidFill>
      </p:bgPr>
    </p:bg>
    <p:spTree>
      <p:nvGrpSpPr>
        <p:cNvPr id="175" name="Shape 175"/>
        <p:cNvGrpSpPr/>
        <p:nvPr/>
      </p:nvGrpSpPr>
      <p:grpSpPr>
        <a:xfrm>
          <a:off x="0" y="0"/>
          <a:ext cx="0" cy="0"/>
          <a:chOff x="0" y="0"/>
          <a:chExt cx="0" cy="0"/>
        </a:xfrm>
      </p:grpSpPr>
      <p:sp>
        <p:nvSpPr>
          <p:cNvPr id="176" name="Google Shape;176;g409854c100a_0_273"/>
          <p:cNvSpPr/>
          <p:nvPr/>
        </p:nvSpPr>
        <p:spPr>
          <a:xfrm>
            <a:off x="502925" y="1188725"/>
            <a:ext cx="11183100" cy="1575000"/>
          </a:xfrm>
          <a:prstGeom prst="rect">
            <a:avLst/>
          </a:prstGeom>
          <a:noFill/>
          <a:ln>
            <a:noFill/>
          </a:ln>
        </p:spPr>
        <p:txBody>
          <a:bodyPr anchorCtr="0" anchor="ctr" bIns="45700" lIns="91425" spcFirstLastPara="1" rIns="91425" wrap="square" tIns="45700">
            <a:noAutofit/>
          </a:bodyPr>
          <a:lstStyle/>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What can we adjust</a:t>
            </a: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p:txBody>
      </p:sp>
      <p:pic>
        <p:nvPicPr>
          <p:cNvPr descr="/mnt/skills/user/xomnia-slide-builder/assets/union-bottom-left.png" id="177" name="Google Shape;177;g409854c100a_0_273"/>
          <p:cNvPicPr preferRelativeResize="0"/>
          <p:nvPr/>
        </p:nvPicPr>
        <p:blipFill rotWithShape="1">
          <a:blip r:embed="rId3">
            <a:alphaModFix/>
          </a:blip>
          <a:srcRect b="0" l="0" r="0" t="0"/>
          <a:stretch/>
        </p:blipFill>
        <p:spPr>
          <a:xfrm>
            <a:off x="-1911116" y="3538728"/>
            <a:ext cx="3621024" cy="3685031"/>
          </a:xfrm>
          <a:prstGeom prst="rect">
            <a:avLst/>
          </a:prstGeom>
          <a:noFill/>
          <a:ln>
            <a:noFill/>
          </a:ln>
        </p:spPr>
      </p:pic>
      <p:pic>
        <p:nvPicPr>
          <p:cNvPr descr="/mnt/skills/user/xomnia-slide-builder/assets/union-top-right.png" id="178" name="Google Shape;178;g409854c100a_0_273"/>
          <p:cNvPicPr preferRelativeResize="0"/>
          <p:nvPr/>
        </p:nvPicPr>
        <p:blipFill rotWithShape="1">
          <a:blip r:embed="rId4">
            <a:alphaModFix/>
          </a:blip>
          <a:srcRect b="0" l="0" r="0" t="0"/>
          <a:stretch/>
        </p:blipFill>
        <p:spPr>
          <a:xfrm>
            <a:off x="8385134" y="-274320"/>
            <a:ext cx="3803904" cy="3685031"/>
          </a:xfrm>
          <a:prstGeom prst="rect">
            <a:avLst/>
          </a:prstGeom>
          <a:noFill/>
          <a:ln>
            <a:noFill/>
          </a:ln>
        </p:spPr>
      </p:pic>
      <p:pic>
        <p:nvPicPr>
          <p:cNvPr descr="/mnt/skills/user/xomnia-slide-builder/assets/logo-small.png" id="179" name="Google Shape;179;g409854c100a_0_273"/>
          <p:cNvPicPr preferRelativeResize="0"/>
          <p:nvPr/>
        </p:nvPicPr>
        <p:blipFill rotWithShape="1">
          <a:blip r:embed="rId5">
            <a:alphaModFix/>
          </a:blip>
          <a:srcRect b="0" l="0" r="0" t="0"/>
          <a:stretch/>
        </p:blipFill>
        <p:spPr>
          <a:xfrm>
            <a:off x="10405979" y="6355080"/>
            <a:ext cx="1463040" cy="320040"/>
          </a:xfrm>
          <a:prstGeom prst="rect">
            <a:avLst/>
          </a:prstGeom>
          <a:noFill/>
          <a:ln>
            <a:noFill/>
          </a:ln>
        </p:spPr>
      </p:pic>
      <p:sp>
        <p:nvSpPr>
          <p:cNvPr id="180" name="Google Shape;180;g409854c100a_0_273"/>
          <p:cNvSpPr/>
          <p:nvPr/>
        </p:nvSpPr>
        <p:spPr>
          <a:xfrm>
            <a:off x="502925" y="91440"/>
            <a:ext cx="1118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000"/>
              <a:buFont typeface="Poppins"/>
              <a:buNone/>
            </a:pPr>
            <a:r>
              <a:rPr lang="en-US" sz="1000">
                <a:solidFill>
                  <a:srgbClr val="848B93"/>
                </a:solidFill>
                <a:latin typeface="Poppins"/>
                <a:ea typeface="Poppins"/>
                <a:cs typeface="Poppins"/>
                <a:sym typeface="Poppins"/>
              </a:rPr>
              <a:t>01 | Welcome</a:t>
            </a:r>
            <a:endParaRPr sz="1000">
              <a:solidFill>
                <a:schemeClr val="dk1"/>
              </a:solidFill>
              <a:latin typeface="Calibri"/>
              <a:ea typeface="Calibri"/>
              <a:cs typeface="Calibri"/>
              <a:sym typeface="Calibri"/>
            </a:endParaRPr>
          </a:p>
        </p:txBody>
      </p:sp>
      <p:sp>
        <p:nvSpPr>
          <p:cNvPr id="181" name="Google Shape;181;g409854c100a_0_273"/>
          <p:cNvSpPr/>
          <p:nvPr/>
        </p:nvSpPr>
        <p:spPr>
          <a:xfrm>
            <a:off x="502925" y="292608"/>
            <a:ext cx="111831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91F3D"/>
              </a:buClr>
              <a:buSzPts val="2800"/>
              <a:buFont typeface="Poppins"/>
              <a:buNone/>
            </a:pPr>
            <a:r>
              <a:rPr lang="en-US" sz="2800">
                <a:solidFill>
                  <a:srgbClr val="091F3D"/>
                </a:solidFill>
                <a:latin typeface="Poppins"/>
                <a:ea typeface="Poppins"/>
                <a:cs typeface="Poppins"/>
                <a:sym typeface="Poppins"/>
              </a:rPr>
              <a:t>Introduction</a:t>
            </a:r>
            <a:endParaRPr sz="2800">
              <a:solidFill>
                <a:schemeClr val="dk1"/>
              </a:solidFill>
              <a:latin typeface="Calibri"/>
              <a:ea typeface="Calibri"/>
              <a:cs typeface="Calibri"/>
              <a:sym typeface="Calibri"/>
            </a:endParaRPr>
          </a:p>
        </p:txBody>
      </p:sp>
      <p:pic>
        <p:nvPicPr>
          <p:cNvPr descr="/mnt/skills/user/xomnia-slide-builder/assets/icons/chat-message.png" id="182" name="Google Shape;182;g409854c100a_0_273"/>
          <p:cNvPicPr preferRelativeResize="0"/>
          <p:nvPr/>
        </p:nvPicPr>
        <p:blipFill rotWithShape="1">
          <a:blip r:embed="rId6">
            <a:alphaModFix/>
          </a:blip>
          <a:srcRect b="0" l="0" r="0" t="0"/>
          <a:stretch/>
        </p:blipFill>
        <p:spPr>
          <a:xfrm>
            <a:off x="3370630" y="3659706"/>
            <a:ext cx="1005840" cy="1005840"/>
          </a:xfrm>
          <a:prstGeom prst="rect">
            <a:avLst/>
          </a:prstGeom>
          <a:noFill/>
          <a:ln>
            <a:noFill/>
          </a:ln>
        </p:spPr>
      </p:pic>
      <p:pic>
        <p:nvPicPr>
          <p:cNvPr descr="/mnt/skills/user/xomnia-slide-builder/assets/icons/laptop-view.png" id="183" name="Google Shape;183;g409854c100a_0_273"/>
          <p:cNvPicPr preferRelativeResize="0"/>
          <p:nvPr/>
        </p:nvPicPr>
        <p:blipFill rotWithShape="1">
          <a:blip r:embed="rId7">
            <a:alphaModFix/>
          </a:blip>
          <a:srcRect b="0" l="0" r="0" t="0"/>
          <a:stretch/>
        </p:blipFill>
        <p:spPr>
          <a:xfrm>
            <a:off x="5178036" y="3778406"/>
            <a:ext cx="1122450" cy="768450"/>
          </a:xfrm>
          <a:prstGeom prst="rect">
            <a:avLst/>
          </a:prstGeom>
          <a:noFill/>
          <a:ln>
            <a:noFill/>
          </a:ln>
        </p:spPr>
      </p:pic>
      <p:sp>
        <p:nvSpPr>
          <p:cNvPr id="184" name="Google Shape;184;g409854c100a_0_273"/>
          <p:cNvSpPr/>
          <p:nvPr/>
        </p:nvSpPr>
        <p:spPr>
          <a:xfrm>
            <a:off x="5178025" y="45915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m1</a:t>
            </a:r>
            <a:endParaRPr sz="1800">
              <a:solidFill>
                <a:srgbClr val="000000"/>
              </a:solidFill>
              <a:latin typeface="Calibri"/>
              <a:ea typeface="Calibri"/>
              <a:cs typeface="Calibri"/>
              <a:sym typeface="Calibri"/>
            </a:endParaRPr>
          </a:p>
        </p:txBody>
      </p:sp>
      <p:pic>
        <p:nvPicPr>
          <p:cNvPr descr="make an icon with this style but then of 3 people" id="185" name="Google Shape;185;g409854c100a_0_273"/>
          <p:cNvPicPr preferRelativeResize="0"/>
          <p:nvPr/>
        </p:nvPicPr>
        <p:blipFill>
          <a:blip r:embed="rId8">
            <a:alphaModFix/>
          </a:blip>
          <a:stretch>
            <a:fillRect/>
          </a:stretch>
        </p:blipFill>
        <p:spPr>
          <a:xfrm>
            <a:off x="1401088" y="3636576"/>
            <a:ext cx="1005825" cy="1005804"/>
          </a:xfrm>
          <a:prstGeom prst="rect">
            <a:avLst/>
          </a:prstGeom>
          <a:noFill/>
          <a:ln>
            <a:noFill/>
          </a:ln>
        </p:spPr>
      </p:pic>
      <p:sp>
        <p:nvSpPr>
          <p:cNvPr id="186" name="Google Shape;186;g409854c100a_0_273"/>
          <p:cNvSpPr/>
          <p:nvPr/>
        </p:nvSpPr>
        <p:spPr>
          <a:xfrm>
            <a:off x="1172440" y="4591599"/>
            <a:ext cx="14631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Users</a:t>
            </a:r>
            <a:endParaRPr sz="1800">
              <a:solidFill>
                <a:srgbClr val="000000"/>
              </a:solidFill>
              <a:latin typeface="Calibri"/>
              <a:ea typeface="Calibri"/>
              <a:cs typeface="Calibri"/>
              <a:sym typeface="Calibri"/>
            </a:endParaRPr>
          </a:p>
        </p:txBody>
      </p:sp>
      <p:sp>
        <p:nvSpPr>
          <p:cNvPr id="187" name="Google Shape;187;g409854c100a_0_273"/>
          <p:cNvSpPr/>
          <p:nvPr/>
        </p:nvSpPr>
        <p:spPr>
          <a:xfrm>
            <a:off x="3289600" y="45915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Prompt</a:t>
            </a:r>
            <a:endParaRPr sz="1800">
              <a:solidFill>
                <a:srgbClr val="000000"/>
              </a:solidFill>
              <a:latin typeface="Calibri"/>
              <a:ea typeface="Calibri"/>
              <a:cs typeface="Calibri"/>
              <a:sym typeface="Calibri"/>
            </a:endParaRPr>
          </a:p>
        </p:txBody>
      </p:sp>
      <p:cxnSp>
        <p:nvCxnSpPr>
          <p:cNvPr id="188" name="Google Shape;188;g409854c100a_0_273"/>
          <p:cNvCxnSpPr/>
          <p:nvPr/>
        </p:nvCxnSpPr>
        <p:spPr>
          <a:xfrm>
            <a:off x="2576013" y="4135728"/>
            <a:ext cx="438600" cy="7500"/>
          </a:xfrm>
          <a:prstGeom prst="straightConnector1">
            <a:avLst/>
          </a:prstGeom>
          <a:noFill/>
          <a:ln cap="flat" cmpd="sng" w="28575">
            <a:solidFill>
              <a:schemeClr val="dk2"/>
            </a:solidFill>
            <a:prstDash val="solid"/>
            <a:round/>
            <a:headEnd len="med" w="med" type="none"/>
            <a:tailEnd len="med" w="med" type="triangle"/>
          </a:ln>
        </p:spPr>
      </p:cxnSp>
      <p:cxnSp>
        <p:nvCxnSpPr>
          <p:cNvPr id="189" name="Google Shape;189;g409854c100a_0_273"/>
          <p:cNvCxnSpPr/>
          <p:nvPr/>
        </p:nvCxnSpPr>
        <p:spPr>
          <a:xfrm>
            <a:off x="4557938" y="4158878"/>
            <a:ext cx="438600" cy="7500"/>
          </a:xfrm>
          <a:prstGeom prst="straightConnector1">
            <a:avLst/>
          </a:prstGeom>
          <a:noFill/>
          <a:ln cap="flat" cmpd="sng" w="28575">
            <a:solidFill>
              <a:schemeClr val="dk2"/>
            </a:solidFill>
            <a:prstDash val="solid"/>
            <a:round/>
            <a:headEnd len="med" w="med" type="none"/>
            <a:tailEnd len="med" w="med" type="triangle"/>
          </a:ln>
        </p:spPr>
      </p:cxnSp>
      <p:pic>
        <p:nvPicPr>
          <p:cNvPr id="190" name="Google Shape;190;g409854c100a_0_273" title="Icon.png"/>
          <p:cNvPicPr preferRelativeResize="0"/>
          <p:nvPr/>
        </p:nvPicPr>
        <p:blipFill rotWithShape="1">
          <a:blip r:embed="rId9">
            <a:alphaModFix/>
          </a:blip>
          <a:srcRect b="0" l="0" r="0" t="0"/>
          <a:stretch/>
        </p:blipFill>
        <p:spPr>
          <a:xfrm>
            <a:off x="5304786" y="1688170"/>
            <a:ext cx="914400" cy="914400"/>
          </a:xfrm>
          <a:prstGeom prst="rect">
            <a:avLst/>
          </a:prstGeom>
          <a:noFill/>
          <a:ln>
            <a:noFill/>
          </a:ln>
        </p:spPr>
      </p:pic>
      <p:sp>
        <p:nvSpPr>
          <p:cNvPr id="191" name="Google Shape;191;g409854c100a_0_273"/>
          <p:cNvSpPr/>
          <p:nvPr/>
        </p:nvSpPr>
        <p:spPr>
          <a:xfrm>
            <a:off x="5178025" y="26847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Data</a:t>
            </a:r>
            <a:endParaRPr sz="1800">
              <a:solidFill>
                <a:srgbClr val="000000"/>
              </a:solidFill>
              <a:latin typeface="Calibri"/>
              <a:ea typeface="Calibri"/>
              <a:cs typeface="Calibri"/>
              <a:sym typeface="Calibri"/>
            </a:endParaRPr>
          </a:p>
        </p:txBody>
      </p:sp>
      <p:cxnSp>
        <p:nvCxnSpPr>
          <p:cNvPr id="192" name="Google Shape;192;g409854c100a_0_273"/>
          <p:cNvCxnSpPr/>
          <p:nvPr/>
        </p:nvCxnSpPr>
        <p:spPr>
          <a:xfrm flipH="1">
            <a:off x="5756436" y="3204306"/>
            <a:ext cx="11100" cy="511800"/>
          </a:xfrm>
          <a:prstGeom prst="straightConnector1">
            <a:avLst/>
          </a:prstGeom>
          <a:noFill/>
          <a:ln cap="flat" cmpd="sng" w="28575">
            <a:solidFill>
              <a:schemeClr val="dk2"/>
            </a:solidFill>
            <a:prstDash val="solid"/>
            <a:round/>
            <a:headEnd len="med" w="med" type="none"/>
            <a:tailEnd len="med" w="med" type="triangle"/>
          </a:ln>
        </p:spPr>
      </p:cxnSp>
      <p:pic>
        <p:nvPicPr>
          <p:cNvPr descr="/mnt/skills/user/xomnia-slide-builder/assets/icons/laptop-view.png" id="193" name="Google Shape;193;g409854c100a_0_273"/>
          <p:cNvPicPr preferRelativeResize="0"/>
          <p:nvPr/>
        </p:nvPicPr>
        <p:blipFill rotWithShape="1">
          <a:blip r:embed="rId7">
            <a:alphaModFix/>
          </a:blip>
          <a:srcRect b="0" l="0" r="0" t="0"/>
          <a:stretch/>
        </p:blipFill>
        <p:spPr>
          <a:xfrm>
            <a:off x="6219186" y="3998006"/>
            <a:ext cx="1122450" cy="768450"/>
          </a:xfrm>
          <a:prstGeom prst="rect">
            <a:avLst/>
          </a:prstGeom>
          <a:noFill/>
          <a:ln>
            <a:noFill/>
          </a:ln>
        </p:spPr>
      </p:pic>
      <p:sp>
        <p:nvSpPr>
          <p:cNvPr id="194" name="Google Shape;194;g409854c100a_0_273"/>
          <p:cNvSpPr/>
          <p:nvPr/>
        </p:nvSpPr>
        <p:spPr>
          <a:xfrm>
            <a:off x="6219175" y="48111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m2</a:t>
            </a:r>
            <a:endParaRPr sz="1800">
              <a:solidFill>
                <a:srgbClr val="000000"/>
              </a:solidFill>
              <a:latin typeface="Calibri"/>
              <a:ea typeface="Calibri"/>
              <a:cs typeface="Calibri"/>
              <a:sym typeface="Calibri"/>
            </a:endParaRPr>
          </a:p>
        </p:txBody>
      </p:sp>
      <p:pic>
        <p:nvPicPr>
          <p:cNvPr descr="/mnt/skills/user/xomnia-slide-builder/assets/icons/laptop-view.png" id="195" name="Google Shape;195;g409854c100a_0_273"/>
          <p:cNvPicPr preferRelativeResize="0"/>
          <p:nvPr/>
        </p:nvPicPr>
        <p:blipFill rotWithShape="1">
          <a:blip r:embed="rId7">
            <a:alphaModFix/>
          </a:blip>
          <a:srcRect b="0" l="0" r="0" t="0"/>
          <a:stretch/>
        </p:blipFill>
        <p:spPr>
          <a:xfrm>
            <a:off x="7217236" y="4185006"/>
            <a:ext cx="1122450" cy="768450"/>
          </a:xfrm>
          <a:prstGeom prst="rect">
            <a:avLst/>
          </a:prstGeom>
          <a:noFill/>
          <a:ln>
            <a:noFill/>
          </a:ln>
        </p:spPr>
      </p:pic>
      <p:sp>
        <p:nvSpPr>
          <p:cNvPr id="196" name="Google Shape;196;g409854c100a_0_273"/>
          <p:cNvSpPr/>
          <p:nvPr/>
        </p:nvSpPr>
        <p:spPr>
          <a:xfrm>
            <a:off x="7217225" y="4998199"/>
            <a:ext cx="1167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91F3D"/>
              </a:buClr>
              <a:buSzPts val="1800"/>
              <a:buFont typeface="Poppins"/>
              <a:buNone/>
            </a:pPr>
            <a:r>
              <a:rPr lang="en-US" sz="1800">
                <a:solidFill>
                  <a:srgbClr val="091F3D"/>
                </a:solidFill>
                <a:latin typeface="Poppins"/>
                <a:ea typeface="Poppins"/>
                <a:cs typeface="Poppins"/>
                <a:sym typeface="Poppins"/>
              </a:rPr>
              <a:t>LLM m3</a:t>
            </a:r>
            <a:endParaRPr sz="1800">
              <a:solidFill>
                <a:srgbClr val="000000"/>
              </a:solidFill>
              <a:latin typeface="Calibri"/>
              <a:ea typeface="Calibri"/>
              <a:cs typeface="Calibri"/>
              <a:sym typeface="Calibri"/>
            </a:endParaRPr>
          </a:p>
        </p:txBody>
      </p:sp>
      <p:cxnSp>
        <p:nvCxnSpPr>
          <p:cNvPr id="197" name="Google Shape;197;g409854c100a_0_273"/>
          <p:cNvCxnSpPr/>
          <p:nvPr/>
        </p:nvCxnSpPr>
        <p:spPr>
          <a:xfrm flipH="1" rot="10800000">
            <a:off x="1456400" y="3659700"/>
            <a:ext cx="895200" cy="984900"/>
          </a:xfrm>
          <a:prstGeom prst="straightConnector1">
            <a:avLst/>
          </a:prstGeom>
          <a:noFill/>
          <a:ln cap="flat" cmpd="sng" w="38100">
            <a:solidFill>
              <a:srgbClr val="CC0000"/>
            </a:solidFill>
            <a:prstDash val="solid"/>
            <a:round/>
            <a:headEnd len="med" w="med" type="none"/>
            <a:tailEnd len="med" w="med" type="none"/>
          </a:ln>
        </p:spPr>
      </p:cxnSp>
      <p:cxnSp>
        <p:nvCxnSpPr>
          <p:cNvPr id="198" name="Google Shape;198;g409854c100a_0_273"/>
          <p:cNvCxnSpPr>
            <a:stCxn id="187" idx="1"/>
          </p:cNvCxnSpPr>
          <p:nvPr/>
        </p:nvCxnSpPr>
        <p:spPr>
          <a:xfrm flipH="1" rot="10800000">
            <a:off x="3289600" y="3695499"/>
            <a:ext cx="1068000" cy="1124700"/>
          </a:xfrm>
          <a:prstGeom prst="straightConnector1">
            <a:avLst/>
          </a:prstGeom>
          <a:noFill/>
          <a:ln cap="flat" cmpd="sng" w="38100">
            <a:solidFill>
              <a:schemeClr val="accent2"/>
            </a:solidFill>
            <a:prstDash val="solid"/>
            <a:round/>
            <a:headEnd len="med" w="med" type="none"/>
            <a:tailEnd len="med" w="med" type="none"/>
          </a:ln>
        </p:spPr>
      </p:cxnSp>
      <p:cxnSp>
        <p:nvCxnSpPr>
          <p:cNvPr id="199" name="Google Shape;199;g409854c100a_0_273"/>
          <p:cNvCxnSpPr/>
          <p:nvPr/>
        </p:nvCxnSpPr>
        <p:spPr>
          <a:xfrm flipH="1" rot="10800000">
            <a:off x="5560475" y="3677624"/>
            <a:ext cx="2271000" cy="1764900"/>
          </a:xfrm>
          <a:prstGeom prst="straightConnector1">
            <a:avLst/>
          </a:prstGeom>
          <a:noFill/>
          <a:ln cap="flat" cmpd="sng" w="38100">
            <a:solidFill>
              <a:schemeClr val="accent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D4"/>
        </a:solidFill>
      </p:bgPr>
    </p:bg>
    <p:spTree>
      <p:nvGrpSpPr>
        <p:cNvPr id="203" name="Shape 203"/>
        <p:cNvGrpSpPr/>
        <p:nvPr/>
      </p:nvGrpSpPr>
      <p:grpSpPr>
        <a:xfrm>
          <a:off x="0" y="0"/>
          <a:ext cx="0" cy="0"/>
          <a:chOff x="0" y="0"/>
          <a:chExt cx="0" cy="0"/>
        </a:xfrm>
      </p:grpSpPr>
      <p:pic>
        <p:nvPicPr>
          <p:cNvPr descr="/mnt/skills/user/xomnia-slide-builder/assets/bg-blue.png" id="204" name="Google Shape;204;p5"/>
          <p:cNvPicPr preferRelativeResize="0"/>
          <p:nvPr/>
        </p:nvPicPr>
        <p:blipFill rotWithShape="1">
          <a:blip r:embed="rId3">
            <a:alphaModFix/>
          </a:blip>
          <a:srcRect b="0" l="0" r="0" t="0"/>
          <a:stretch/>
        </p:blipFill>
        <p:spPr>
          <a:xfrm>
            <a:off x="0" y="0"/>
            <a:ext cx="12188952" cy="6858000"/>
          </a:xfrm>
          <a:prstGeom prst="rect">
            <a:avLst/>
          </a:prstGeom>
          <a:noFill/>
          <a:ln>
            <a:noFill/>
          </a:ln>
        </p:spPr>
      </p:pic>
      <p:pic>
        <p:nvPicPr>
          <p:cNvPr descr="/mnt/skills/user/xomnia-slide-builder/assets/logo-white.png" id="205" name="Google Shape;205;p5"/>
          <p:cNvPicPr preferRelativeResize="0"/>
          <p:nvPr/>
        </p:nvPicPr>
        <p:blipFill rotWithShape="1">
          <a:blip r:embed="rId4">
            <a:alphaModFix/>
          </a:blip>
          <a:srcRect b="0" l="0" r="0" t="0"/>
          <a:stretch/>
        </p:blipFill>
        <p:spPr>
          <a:xfrm>
            <a:off x="10735056" y="6126480"/>
            <a:ext cx="941832" cy="201168"/>
          </a:xfrm>
          <a:prstGeom prst="rect">
            <a:avLst/>
          </a:prstGeom>
          <a:noFill/>
          <a:ln>
            <a:noFill/>
          </a:ln>
        </p:spPr>
      </p:pic>
      <p:sp>
        <p:nvSpPr>
          <p:cNvPr id="206" name="Google Shape;206;p5"/>
          <p:cNvSpPr/>
          <p:nvPr/>
        </p:nvSpPr>
        <p:spPr>
          <a:xfrm>
            <a:off x="10186416" y="6126480"/>
            <a:ext cx="5029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0BBDD"/>
              </a:buClr>
              <a:buSzPts val="900"/>
              <a:buFont typeface="Poppins"/>
              <a:buNone/>
            </a:pPr>
            <a:r>
              <a:rPr b="0" i="0" lang="en-US" sz="900" u="none" cap="none" strike="noStrike">
                <a:solidFill>
                  <a:srgbClr val="A0BBDD"/>
                </a:solidFill>
                <a:latin typeface="Poppins"/>
                <a:ea typeface="Poppins"/>
                <a:cs typeface="Poppins"/>
                <a:sym typeface="Poppins"/>
              </a:rPr>
              <a:t>05</a:t>
            </a:r>
            <a:endParaRPr b="0" i="0" sz="900" u="none" cap="none" strike="noStrike">
              <a:solidFill>
                <a:schemeClr val="dk1"/>
              </a:solidFill>
              <a:latin typeface="Poppins"/>
              <a:ea typeface="Poppins"/>
              <a:cs typeface="Poppins"/>
              <a:sym typeface="Poppins"/>
            </a:endParaRPr>
          </a:p>
        </p:txBody>
      </p:sp>
      <p:sp>
        <p:nvSpPr>
          <p:cNvPr id="207" name="Google Shape;207;p5"/>
          <p:cNvSpPr/>
          <p:nvPr/>
        </p:nvSpPr>
        <p:spPr>
          <a:xfrm>
            <a:off x="512064" y="1691640"/>
            <a:ext cx="2743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Poppins"/>
              <a:buNone/>
            </a:pPr>
            <a:r>
              <a:rPr b="0" i="0" lang="en-US" sz="1600" u="none" cap="none" strike="noStrike">
                <a:solidFill>
                  <a:srgbClr val="FFFFFF"/>
                </a:solidFill>
                <a:latin typeface="Poppins"/>
                <a:ea typeface="Poppins"/>
                <a:cs typeface="Poppins"/>
                <a:sym typeface="Poppins"/>
              </a:rPr>
              <a:t>02.</a:t>
            </a:r>
            <a:endParaRPr b="0" i="0" sz="1600" u="none" cap="none" strike="noStrike">
              <a:solidFill>
                <a:schemeClr val="dk1"/>
              </a:solidFill>
              <a:latin typeface="Poppins"/>
              <a:ea typeface="Poppins"/>
              <a:cs typeface="Poppins"/>
              <a:sym typeface="Poppins"/>
            </a:endParaRPr>
          </a:p>
        </p:txBody>
      </p:sp>
      <p:sp>
        <p:nvSpPr>
          <p:cNvPr id="208" name="Google Shape;208;p5"/>
          <p:cNvSpPr/>
          <p:nvPr/>
        </p:nvSpPr>
        <p:spPr>
          <a:xfrm>
            <a:off x="457200" y="2103120"/>
            <a:ext cx="960120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Poppins"/>
              <a:buNone/>
            </a:pPr>
            <a:r>
              <a:rPr lang="en-US" sz="6000">
                <a:solidFill>
                  <a:srgbClr val="FFFFFF"/>
                </a:solidFill>
                <a:latin typeface="Poppins"/>
                <a:ea typeface="Poppins"/>
                <a:cs typeface="Poppins"/>
                <a:sym typeface="Poppins"/>
              </a:rPr>
              <a:t>Let’s open the workbook!</a:t>
            </a:r>
            <a:endParaRPr b="0" i="0" sz="6000" u="none" cap="none" strike="noStrike">
              <a:solidFill>
                <a:schemeClr val="dk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12" name="Shape 212"/>
        <p:cNvGrpSpPr/>
        <p:nvPr/>
      </p:nvGrpSpPr>
      <p:grpSpPr>
        <a:xfrm>
          <a:off x="0" y="0"/>
          <a:ext cx="0" cy="0"/>
          <a:chOff x="0" y="0"/>
          <a:chExt cx="0" cy="0"/>
        </a:xfrm>
      </p:grpSpPr>
      <p:pic>
        <p:nvPicPr>
          <p:cNvPr descr="/mnt/skills/user/xomnia-slide-builder/assets/bg-surface.png" id="213" name="Google Shape;213;p8"/>
          <p:cNvPicPr preferRelativeResize="0"/>
          <p:nvPr/>
        </p:nvPicPr>
        <p:blipFill rotWithShape="1">
          <a:blip r:embed="rId3">
            <a:alphaModFix/>
          </a:blip>
          <a:srcRect b="0" l="0" r="0" t="0"/>
          <a:stretch/>
        </p:blipFill>
        <p:spPr>
          <a:xfrm>
            <a:off x="0" y="0"/>
            <a:ext cx="12188952" cy="6858000"/>
          </a:xfrm>
          <a:prstGeom prst="rect">
            <a:avLst/>
          </a:prstGeom>
          <a:noFill/>
          <a:ln>
            <a:noFill/>
          </a:ln>
        </p:spPr>
      </p:pic>
      <p:pic>
        <p:nvPicPr>
          <p:cNvPr descr="/mnt/skills/user/xomnia-slide-builder/assets/logo-blue.png" id="214" name="Google Shape;214;p8"/>
          <p:cNvPicPr preferRelativeResize="0"/>
          <p:nvPr/>
        </p:nvPicPr>
        <p:blipFill rotWithShape="1">
          <a:blip r:embed="rId4">
            <a:alphaModFix/>
          </a:blip>
          <a:srcRect b="0" l="0" r="0" t="0"/>
          <a:stretch/>
        </p:blipFill>
        <p:spPr>
          <a:xfrm>
            <a:off x="10735056" y="6126480"/>
            <a:ext cx="941832" cy="201168"/>
          </a:xfrm>
          <a:prstGeom prst="rect">
            <a:avLst/>
          </a:prstGeom>
          <a:noFill/>
          <a:ln>
            <a:noFill/>
          </a:ln>
        </p:spPr>
      </p:pic>
      <p:sp>
        <p:nvSpPr>
          <p:cNvPr id="215" name="Google Shape;215;p8"/>
          <p:cNvSpPr/>
          <p:nvPr/>
        </p:nvSpPr>
        <p:spPr>
          <a:xfrm>
            <a:off x="10186416" y="6126480"/>
            <a:ext cx="5029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16" name="Google Shape;216;p8"/>
          <p:cNvSpPr/>
          <p:nvPr/>
        </p:nvSpPr>
        <p:spPr>
          <a:xfrm>
            <a:off x="512064" y="182880"/>
            <a:ext cx="1116482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17" name="Google Shape;217;p8"/>
          <p:cNvSpPr/>
          <p:nvPr/>
        </p:nvSpPr>
        <p:spPr>
          <a:xfrm>
            <a:off x="512064" y="594360"/>
            <a:ext cx="11164824"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Setup and e</a:t>
            </a:r>
            <a:r>
              <a:rPr b="0" i="0" lang="en-US" sz="2700" u="none" cap="none" strike="noStrike">
                <a:solidFill>
                  <a:srgbClr val="333333"/>
                </a:solidFill>
                <a:latin typeface="Poppins"/>
                <a:ea typeface="Poppins"/>
                <a:cs typeface="Poppins"/>
                <a:sym typeface="Poppins"/>
              </a:rPr>
              <a:t>x</a:t>
            </a:r>
            <a:r>
              <a:rPr lang="en-US" sz="2700">
                <a:solidFill>
                  <a:srgbClr val="333333"/>
                </a:solidFill>
                <a:latin typeface="Poppins"/>
                <a:ea typeface="Poppins"/>
                <a:cs typeface="Poppins"/>
                <a:sym typeface="Poppins"/>
              </a:rPr>
              <a:t>ercise</a:t>
            </a:r>
            <a:r>
              <a:rPr b="0" i="0" lang="en-US" sz="2700" u="none" cap="none" strike="noStrike">
                <a:solidFill>
                  <a:srgbClr val="333333"/>
                </a:solidFill>
                <a:latin typeface="Poppins"/>
                <a:ea typeface="Poppins"/>
                <a:cs typeface="Poppins"/>
                <a:sym typeface="Poppins"/>
              </a:rPr>
              <a:t> 1: </a:t>
            </a:r>
            <a:r>
              <a:rPr lang="en-US" sz="2700">
                <a:solidFill>
                  <a:schemeClr val="accent1"/>
                </a:solidFill>
                <a:latin typeface="Poppins"/>
                <a:ea typeface="Poppins"/>
                <a:cs typeface="Poppins"/>
                <a:sym typeface="Poppins"/>
              </a:rPr>
              <a:t>Scrub before you send</a:t>
            </a:r>
            <a:endParaRPr b="0" i="0" sz="2700" u="none" cap="none" strike="noStrike">
              <a:solidFill>
                <a:schemeClr val="dk1"/>
              </a:solidFill>
              <a:latin typeface="Poppins"/>
              <a:ea typeface="Poppins"/>
              <a:cs typeface="Poppins"/>
              <a:sym typeface="Poppins"/>
            </a:endParaRPr>
          </a:p>
        </p:txBody>
      </p:sp>
      <p:sp>
        <p:nvSpPr>
          <p:cNvPr id="218" name="Google Shape;218;p8"/>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Let me, or your neighbour, know if any questions pop up.</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Go through the DISCUSS items with one of your neighbours!</a:t>
            </a:r>
            <a:endParaRPr sz="1600">
              <a:solidFill>
                <a:srgbClr val="333333"/>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22" name="Shape 222"/>
        <p:cNvGrpSpPr/>
        <p:nvPr/>
      </p:nvGrpSpPr>
      <p:grpSpPr>
        <a:xfrm>
          <a:off x="0" y="0"/>
          <a:ext cx="0" cy="0"/>
          <a:chOff x="0" y="0"/>
          <a:chExt cx="0" cy="0"/>
        </a:xfrm>
      </p:grpSpPr>
      <p:pic>
        <p:nvPicPr>
          <p:cNvPr descr="/mnt/skills/user/xomnia-slide-builder/assets/bg-surface.png" id="223" name="Google Shape;223;g409854c100a_0_320"/>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24" name="Google Shape;224;g409854c100a_0_320"/>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25" name="Google Shape;225;g409854c100a_0_320"/>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26" name="Google Shape;226;g409854c100a_0_320"/>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27" name="Google Shape;227;g409854c100a_0_320"/>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Setup and e</a:t>
            </a:r>
            <a:r>
              <a:rPr b="0" i="0" lang="en-US" sz="2700" u="none" cap="none" strike="noStrike">
                <a:solidFill>
                  <a:srgbClr val="333333"/>
                </a:solidFill>
                <a:latin typeface="Poppins"/>
                <a:ea typeface="Poppins"/>
                <a:cs typeface="Poppins"/>
                <a:sym typeface="Poppins"/>
              </a:rPr>
              <a:t>x</a:t>
            </a:r>
            <a:r>
              <a:rPr lang="en-US" sz="2700">
                <a:solidFill>
                  <a:srgbClr val="333333"/>
                </a:solidFill>
                <a:latin typeface="Poppins"/>
                <a:ea typeface="Poppins"/>
                <a:cs typeface="Poppins"/>
                <a:sym typeface="Poppins"/>
              </a:rPr>
              <a:t>ercise</a:t>
            </a:r>
            <a:r>
              <a:rPr b="0" i="0" lang="en-US" sz="2700" u="none" cap="none" strike="noStrike">
                <a:solidFill>
                  <a:srgbClr val="333333"/>
                </a:solidFill>
                <a:latin typeface="Poppins"/>
                <a:ea typeface="Poppins"/>
                <a:cs typeface="Poppins"/>
                <a:sym typeface="Poppins"/>
              </a:rPr>
              <a:t> 1: </a:t>
            </a:r>
            <a:r>
              <a:rPr lang="en-US" sz="2700">
                <a:solidFill>
                  <a:srgbClr val="333333"/>
                </a:solidFill>
                <a:latin typeface="Poppins"/>
                <a:ea typeface="Poppins"/>
                <a:cs typeface="Poppins"/>
                <a:sym typeface="Poppins"/>
              </a:rPr>
              <a:t>scrub before you send</a:t>
            </a:r>
            <a:endParaRPr b="0" i="0" sz="2700" u="none" cap="none" strike="noStrike">
              <a:solidFill>
                <a:schemeClr val="dk1"/>
              </a:solidFill>
              <a:latin typeface="Poppins"/>
              <a:ea typeface="Poppins"/>
              <a:cs typeface="Poppins"/>
              <a:sym typeface="Poppins"/>
            </a:endParaRPr>
          </a:p>
        </p:txBody>
      </p:sp>
      <p:sp>
        <p:nvSpPr>
          <p:cNvPr id="228" name="Google Shape;228;g409854c100a_0_320"/>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300">
                <a:solidFill>
                  <a:srgbClr val="333333"/>
                </a:solidFill>
                <a:latin typeface="Poppins"/>
                <a:ea typeface="Poppins"/>
                <a:cs typeface="Poppins"/>
                <a:sym typeface="Poppins"/>
              </a:rPr>
              <a:t>Everyone knows: data has to be cleaned.</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br>
              <a:rPr lang="en-US" sz="1300">
                <a:solidFill>
                  <a:srgbClr val="333333"/>
                </a:solidFill>
                <a:latin typeface="Poppins"/>
                <a:ea typeface="Poppins"/>
                <a:cs typeface="Poppins"/>
                <a:sym typeface="Poppins"/>
              </a:rPr>
            </a:br>
            <a:r>
              <a:rPr lang="en-US" sz="1300">
                <a:solidFill>
                  <a:srgbClr val="333333"/>
                </a:solidFill>
                <a:latin typeface="Poppins"/>
                <a:ea typeface="Poppins"/>
                <a:cs typeface="Poppins"/>
                <a:sym typeface="Poppins"/>
              </a:rPr>
              <a:t>Scrubbing PII Is only 1 part, but there are silent NaN drops, unexpected and incorrect values,  averages vs medians, </a:t>
            </a:r>
            <a:r>
              <a:rPr lang="en-US" sz="1300">
                <a:solidFill>
                  <a:srgbClr val="333333"/>
                </a:solidFill>
                <a:latin typeface="Poppins"/>
                <a:ea typeface="Poppins"/>
                <a:cs typeface="Poppins"/>
                <a:sym typeface="Poppins"/>
              </a:rPr>
              <a:t>abbreviations</a:t>
            </a:r>
            <a:r>
              <a:rPr lang="en-US" sz="1300">
                <a:solidFill>
                  <a:srgbClr val="333333"/>
                </a:solidFill>
                <a:latin typeface="Poppins"/>
                <a:ea typeface="Poppins"/>
                <a:cs typeface="Poppins"/>
                <a:sym typeface="Poppins"/>
              </a:rPr>
              <a:t>, missing units, duplicates and many more. But what is worth fixing?</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br>
              <a:rPr lang="en-US" sz="1300">
                <a:solidFill>
                  <a:srgbClr val="333333"/>
                </a:solidFill>
                <a:latin typeface="Poppins"/>
                <a:ea typeface="Poppins"/>
                <a:cs typeface="Poppins"/>
                <a:sym typeface="Poppins"/>
              </a:rPr>
            </a:br>
            <a:r>
              <a:rPr lang="en-US" sz="1300">
                <a:solidFill>
                  <a:srgbClr val="333333"/>
                </a:solidFill>
                <a:latin typeface="Poppins"/>
                <a:ea typeface="Poppins"/>
                <a:cs typeface="Poppins"/>
                <a:sym typeface="Poppins"/>
              </a:rPr>
              <a:t>There is a difference in cleaning for AI vs cleaning for a ML model or a dashboard.</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300">
                <a:solidFill>
                  <a:srgbClr val="333333"/>
                </a:solidFill>
                <a:latin typeface="Poppins"/>
                <a:ea typeface="Poppins"/>
                <a:cs typeface="Poppins"/>
                <a:sym typeface="Poppins"/>
              </a:rPr>
              <a:t>Dasbhbaord = visual correctness</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300">
                <a:solidFill>
                  <a:srgbClr val="333333"/>
                </a:solidFill>
                <a:latin typeface="Poppins"/>
                <a:ea typeface="Poppins"/>
                <a:cs typeface="Poppins"/>
                <a:sym typeface="Poppins"/>
              </a:rPr>
              <a:t>ML model = statistical distribution</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300">
                <a:solidFill>
                  <a:srgbClr val="333333"/>
                </a:solidFill>
                <a:latin typeface="Poppins"/>
                <a:ea typeface="Poppins"/>
                <a:cs typeface="Poppins"/>
                <a:sym typeface="Poppins"/>
              </a:rPr>
              <a:t>LLM input = semantic clarity</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3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AI needs richer context than ML. Here’s a 4-step pipeline:</a:t>
            </a:r>
            <a:endParaRPr b="0" i="0" sz="1300" u="none" cap="none" strike="noStrike">
              <a:solidFill>
                <a:schemeClr val="dk1"/>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1. Clean — fix errors, nulls, and inconsistencies</a:t>
            </a:r>
            <a:endParaRPr b="0" i="0" sz="1300" u="none" cap="none" strike="noStrike">
              <a:solidFill>
                <a:schemeClr val="dk1"/>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2. Contextualise — add table descriptions, business meaning</a:t>
            </a:r>
            <a:r>
              <a:rPr lang="en-US" sz="1300">
                <a:solidFill>
                  <a:srgbClr val="333333"/>
                </a:solidFill>
                <a:latin typeface="Poppins"/>
                <a:ea typeface="Poppins"/>
                <a:cs typeface="Poppins"/>
                <a:sym typeface="Poppins"/>
              </a:rPr>
              <a:t> and </a:t>
            </a:r>
            <a:r>
              <a:rPr b="0" i="0" lang="en-US" sz="1300" u="none" cap="none" strike="noStrike">
                <a:solidFill>
                  <a:srgbClr val="333333"/>
                </a:solidFill>
                <a:latin typeface="Poppins"/>
                <a:ea typeface="Poppins"/>
                <a:cs typeface="Poppins"/>
                <a:sym typeface="Poppins"/>
              </a:rPr>
              <a:t>semantic context (what does this value mean?)</a:t>
            </a:r>
            <a:endParaRPr b="0" i="0" sz="1300" u="none" cap="none" strike="noStrike">
              <a:solidFill>
                <a:schemeClr val="dk1"/>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3. Chunk — split into pieces the LLM can process</a:t>
            </a:r>
            <a:endParaRPr b="0" i="0" sz="1300" u="none" cap="none" strike="noStrike">
              <a:solidFill>
                <a:schemeClr val="dk1"/>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4. Verify — validate output quality before sending to production</a:t>
            </a:r>
            <a:endParaRPr b="0" i="0" sz="1300" u="none" cap="none" strike="noStrike">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32" name="Shape 232"/>
        <p:cNvGrpSpPr/>
        <p:nvPr/>
      </p:nvGrpSpPr>
      <p:grpSpPr>
        <a:xfrm>
          <a:off x="0" y="0"/>
          <a:ext cx="0" cy="0"/>
          <a:chOff x="0" y="0"/>
          <a:chExt cx="0" cy="0"/>
        </a:xfrm>
      </p:grpSpPr>
      <p:pic>
        <p:nvPicPr>
          <p:cNvPr descr="/mnt/skills/user/xomnia-slide-builder/assets/bg-surface.png" id="233" name="Google Shape;233;g409854c100a_0_330"/>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34" name="Google Shape;234;g409854c100a_0_330"/>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35" name="Google Shape;235;g409854c100a_0_330"/>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36" name="Google Shape;236;g409854c100a_0_330"/>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37" name="Google Shape;237;g409854c100a_0_330"/>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Let me, or your neighbour, know if any questions pop up.</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Go through the DISCUSS items with one of your neighbours!</a:t>
            </a:r>
            <a:endParaRPr sz="1600">
              <a:solidFill>
                <a:srgbClr val="333333"/>
              </a:solidFill>
              <a:latin typeface="Poppins"/>
              <a:ea typeface="Poppins"/>
              <a:cs typeface="Poppins"/>
              <a:sym typeface="Poppins"/>
            </a:endParaRPr>
          </a:p>
        </p:txBody>
      </p:sp>
      <p:sp>
        <p:nvSpPr>
          <p:cNvPr id="238" name="Google Shape;238;g409854c100a_0_330"/>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a:t>
            </a:r>
            <a:r>
              <a:rPr b="0" i="0" lang="en-US" sz="2700" u="none" cap="none" strike="noStrike">
                <a:solidFill>
                  <a:srgbClr val="333333"/>
                </a:solidFill>
                <a:latin typeface="Poppins"/>
                <a:ea typeface="Poppins"/>
                <a:cs typeface="Poppins"/>
                <a:sym typeface="Poppins"/>
              </a:rPr>
              <a:t>2: </a:t>
            </a:r>
            <a:r>
              <a:rPr lang="en-US" sz="2700">
                <a:solidFill>
                  <a:srgbClr val="1B43D4"/>
                </a:solidFill>
                <a:latin typeface="Poppins"/>
                <a:ea typeface="Poppins"/>
                <a:cs typeface="Poppins"/>
                <a:sym typeface="Poppins"/>
              </a:rPr>
              <a:t>Minimum viable context</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43" name="Shape 243"/>
        <p:cNvGrpSpPr/>
        <p:nvPr/>
      </p:nvGrpSpPr>
      <p:grpSpPr>
        <a:xfrm>
          <a:off x="0" y="0"/>
          <a:ext cx="0" cy="0"/>
          <a:chOff x="0" y="0"/>
          <a:chExt cx="0" cy="0"/>
        </a:xfrm>
      </p:grpSpPr>
      <p:pic>
        <p:nvPicPr>
          <p:cNvPr descr="/mnt/skills/user/xomnia-slide-builder/assets/bg-surface.png" id="244" name="Google Shape;244;p9"/>
          <p:cNvPicPr preferRelativeResize="0"/>
          <p:nvPr/>
        </p:nvPicPr>
        <p:blipFill rotWithShape="1">
          <a:blip r:embed="rId3">
            <a:alphaModFix/>
          </a:blip>
          <a:srcRect b="0" l="0" r="0" t="0"/>
          <a:stretch/>
        </p:blipFill>
        <p:spPr>
          <a:xfrm>
            <a:off x="0" y="0"/>
            <a:ext cx="12188952" cy="6858000"/>
          </a:xfrm>
          <a:prstGeom prst="rect">
            <a:avLst/>
          </a:prstGeom>
          <a:noFill/>
          <a:ln>
            <a:noFill/>
          </a:ln>
        </p:spPr>
      </p:pic>
      <p:sp>
        <p:nvSpPr>
          <p:cNvPr id="245" name="Google Shape;245;p9"/>
          <p:cNvSpPr/>
          <p:nvPr/>
        </p:nvSpPr>
        <p:spPr>
          <a:xfrm>
            <a:off x="6400800" y="1553633"/>
            <a:ext cx="1280100" cy="283500"/>
          </a:xfrm>
          <a:prstGeom prst="roundRect">
            <a:avLst>
              <a:gd fmla="val 50000" name="adj"/>
            </a:avLst>
          </a:prstGeom>
          <a:solidFill>
            <a:srgbClr val="1B4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512064" y="1572760"/>
            <a:ext cx="1280100" cy="283500"/>
          </a:xfrm>
          <a:prstGeom prst="roundRect">
            <a:avLst>
              <a:gd fmla="val 50000"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512074" y="1570164"/>
            <a:ext cx="1172400" cy="28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Poppins"/>
              <a:buNone/>
            </a:pPr>
            <a:r>
              <a:rPr b="0" i="0" lang="en-US" sz="1100" u="none" cap="none" strike="noStrike">
                <a:solidFill>
                  <a:srgbClr val="FFFFFF"/>
                </a:solidFill>
                <a:latin typeface="Poppins"/>
                <a:ea typeface="Poppins"/>
                <a:cs typeface="Poppins"/>
                <a:sym typeface="Poppins"/>
              </a:rPr>
              <a:t>Avoid</a:t>
            </a:r>
            <a:endParaRPr b="0" i="0" sz="1100" u="none" cap="none" strike="noStrike">
              <a:solidFill>
                <a:schemeClr val="dk1"/>
              </a:solidFill>
              <a:latin typeface="Poppins"/>
              <a:ea typeface="Poppins"/>
              <a:cs typeface="Poppins"/>
              <a:sym typeface="Poppins"/>
            </a:endParaRPr>
          </a:p>
        </p:txBody>
      </p:sp>
      <p:sp>
        <p:nvSpPr>
          <p:cNvPr id="248" name="Google Shape;248;p9"/>
          <p:cNvSpPr/>
          <p:nvPr/>
        </p:nvSpPr>
        <p:spPr>
          <a:xfrm>
            <a:off x="6400800" y="1508750"/>
            <a:ext cx="1280100" cy="35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Poppins"/>
              <a:buNone/>
            </a:pPr>
            <a:r>
              <a:rPr b="0" i="0" lang="en-US" sz="1100" u="none" cap="none" strike="noStrike">
                <a:solidFill>
                  <a:srgbClr val="FFFFFF"/>
                </a:solidFill>
                <a:latin typeface="Poppins"/>
                <a:ea typeface="Poppins"/>
                <a:cs typeface="Poppins"/>
                <a:sym typeface="Poppins"/>
              </a:rPr>
              <a:t>Better</a:t>
            </a:r>
            <a:endParaRPr b="0" i="0" sz="1100" u="none" cap="none" strike="noStrike">
              <a:solidFill>
                <a:schemeClr val="dk1"/>
              </a:solidFill>
              <a:latin typeface="Poppins"/>
              <a:ea typeface="Poppins"/>
              <a:cs typeface="Poppins"/>
              <a:sym typeface="Poppins"/>
            </a:endParaRPr>
          </a:p>
        </p:txBody>
      </p:sp>
      <p:pic>
        <p:nvPicPr>
          <p:cNvPr descr="/mnt/skills/user/xomnia-slide-builder/assets/logo-blue.png" id="249" name="Google Shape;249;p9"/>
          <p:cNvPicPr preferRelativeResize="0"/>
          <p:nvPr/>
        </p:nvPicPr>
        <p:blipFill rotWithShape="1">
          <a:blip r:embed="rId4">
            <a:alphaModFix/>
          </a:blip>
          <a:srcRect b="0" l="0" r="0" t="0"/>
          <a:stretch/>
        </p:blipFill>
        <p:spPr>
          <a:xfrm>
            <a:off x="10735056" y="6126480"/>
            <a:ext cx="941832" cy="201168"/>
          </a:xfrm>
          <a:prstGeom prst="rect">
            <a:avLst/>
          </a:prstGeom>
          <a:noFill/>
          <a:ln>
            <a:noFill/>
          </a:ln>
        </p:spPr>
      </p:pic>
      <p:sp>
        <p:nvSpPr>
          <p:cNvPr id="250" name="Google Shape;250;p9"/>
          <p:cNvSpPr/>
          <p:nvPr/>
        </p:nvSpPr>
        <p:spPr>
          <a:xfrm>
            <a:off x="10186416" y="6126480"/>
            <a:ext cx="50292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09</a:t>
            </a:r>
            <a:endParaRPr b="0" i="0" sz="900" u="none" cap="none" strike="noStrike">
              <a:solidFill>
                <a:schemeClr val="dk1"/>
              </a:solidFill>
              <a:latin typeface="Poppins"/>
              <a:ea typeface="Poppins"/>
              <a:cs typeface="Poppins"/>
              <a:sym typeface="Poppins"/>
            </a:endParaRPr>
          </a:p>
        </p:txBody>
      </p:sp>
      <p:sp>
        <p:nvSpPr>
          <p:cNvPr id="251" name="Google Shape;251;p9"/>
          <p:cNvSpPr/>
          <p:nvPr/>
        </p:nvSpPr>
        <p:spPr>
          <a:xfrm>
            <a:off x="512064" y="182880"/>
            <a:ext cx="1116482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a:t>
            </a:r>
            <a:r>
              <a:rPr b="0" i="0" lang="en-US" sz="1200" u="none" cap="none" strike="noStrike">
                <a:solidFill>
                  <a:srgbClr val="848B93"/>
                </a:solidFill>
                <a:latin typeface="Poppins"/>
                <a:ea typeface="Poppins"/>
                <a:cs typeface="Poppins"/>
                <a:sym typeface="Poppins"/>
              </a:rPr>
              <a:t> | Workbook</a:t>
            </a:r>
            <a:endParaRPr b="0" i="0" sz="1200" u="none" cap="none" strike="noStrike">
              <a:solidFill>
                <a:schemeClr val="dk1"/>
              </a:solidFill>
              <a:latin typeface="Poppins"/>
              <a:ea typeface="Poppins"/>
              <a:cs typeface="Poppins"/>
              <a:sym typeface="Poppins"/>
            </a:endParaRPr>
          </a:p>
        </p:txBody>
      </p:sp>
      <p:sp>
        <p:nvSpPr>
          <p:cNvPr id="252" name="Google Shape;252;p9"/>
          <p:cNvSpPr/>
          <p:nvPr/>
        </p:nvSpPr>
        <p:spPr>
          <a:xfrm>
            <a:off x="512064" y="594360"/>
            <a:ext cx="11164824"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a:t>
            </a:r>
            <a:r>
              <a:rPr b="0" i="0" lang="en-US" sz="2700" u="none" cap="none" strike="noStrike">
                <a:solidFill>
                  <a:srgbClr val="333333"/>
                </a:solidFill>
                <a:latin typeface="Poppins"/>
                <a:ea typeface="Poppins"/>
                <a:cs typeface="Poppins"/>
                <a:sym typeface="Poppins"/>
              </a:rPr>
              <a:t>2: </a:t>
            </a:r>
            <a:r>
              <a:rPr lang="en-US" sz="2700">
                <a:solidFill>
                  <a:srgbClr val="1B43D4"/>
                </a:solidFill>
                <a:latin typeface="Poppins"/>
                <a:ea typeface="Poppins"/>
                <a:cs typeface="Poppins"/>
                <a:sym typeface="Poppins"/>
              </a:rPr>
              <a:t>Minimum viable context</a:t>
            </a:r>
            <a:endParaRPr b="0" i="0" sz="2700" u="none" cap="none" strike="noStrike">
              <a:solidFill>
                <a:schemeClr val="dk1"/>
              </a:solidFill>
              <a:latin typeface="Poppins"/>
              <a:ea typeface="Poppins"/>
              <a:cs typeface="Poppins"/>
              <a:sym typeface="Poppins"/>
            </a:endParaRPr>
          </a:p>
        </p:txBody>
      </p:sp>
      <p:sp>
        <p:nvSpPr>
          <p:cNvPr id="253" name="Google Shape;253;p9"/>
          <p:cNvSpPr/>
          <p:nvPr/>
        </p:nvSpPr>
        <p:spPr>
          <a:xfrm>
            <a:off x="6099048" y="1508760"/>
            <a:ext cx="9144" cy="4663440"/>
          </a:xfrm>
          <a:prstGeom prst="rect">
            <a:avLst/>
          </a:prstGeom>
          <a:solidFill>
            <a:srgbClr val="D0D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512064" y="1965960"/>
            <a:ext cx="52122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D4"/>
              </a:buClr>
              <a:buSzPts val="1600"/>
              <a:buFont typeface="Poppins"/>
              <a:buNone/>
            </a:pPr>
            <a:r>
              <a:rPr b="0" i="0" lang="en-US" sz="1600" u="none" cap="none" strike="noStrike">
                <a:solidFill>
                  <a:srgbClr val="1B43D4"/>
                </a:solidFill>
                <a:latin typeface="Poppins"/>
                <a:ea typeface="Poppins"/>
                <a:cs typeface="Poppins"/>
                <a:sym typeface="Poppins"/>
              </a:rPr>
              <a:t>Let the LLM do the groupby</a:t>
            </a:r>
            <a:endParaRPr b="0" i="0" sz="1600" u="none" cap="none" strike="noStrike">
              <a:solidFill>
                <a:schemeClr val="dk1"/>
              </a:solidFill>
              <a:latin typeface="Poppins"/>
              <a:ea typeface="Poppins"/>
              <a:cs typeface="Poppins"/>
              <a:sym typeface="Poppins"/>
            </a:endParaRPr>
          </a:p>
        </p:txBody>
      </p:sp>
      <p:sp>
        <p:nvSpPr>
          <p:cNvPr id="255" name="Google Shape;255;p9"/>
          <p:cNvSpPr/>
          <p:nvPr/>
        </p:nvSpPr>
        <p:spPr>
          <a:xfrm>
            <a:off x="512075" y="2487175"/>
            <a:ext cx="5212200" cy="200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Poppins"/>
              <a:buNone/>
            </a:pPr>
            <a:r>
              <a:rPr b="0" i="0" lang="en-US" sz="1200" u="none" cap="none" strike="noStrike">
                <a:solidFill>
                  <a:srgbClr val="333333"/>
                </a:solidFill>
                <a:latin typeface="Poppins"/>
                <a:ea typeface="Poppins"/>
                <a:cs typeface="Poppins"/>
                <a:sym typeface="Poppins"/>
              </a:rPr>
              <a:t>Sending raw rows and asking the LLM to aggregate is slow, expensive, and error-prone. The model may miss groups, apply wrong logic, or run out of context window. Don’t make the LLM do your pandas work.</a:t>
            </a:r>
            <a:endParaRPr b="0" i="0" sz="1200" u="none" cap="none" strike="noStrike">
              <a:solidFill>
                <a:schemeClr val="dk1"/>
              </a:solidFill>
              <a:latin typeface="Poppins"/>
              <a:ea typeface="Poppins"/>
              <a:cs typeface="Poppins"/>
              <a:sym typeface="Poppins"/>
            </a:endParaRPr>
          </a:p>
        </p:txBody>
      </p:sp>
      <p:sp>
        <p:nvSpPr>
          <p:cNvPr id="256" name="Google Shape;256;p9"/>
          <p:cNvSpPr/>
          <p:nvPr/>
        </p:nvSpPr>
        <p:spPr>
          <a:xfrm>
            <a:off x="6400800" y="1965960"/>
            <a:ext cx="52122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D4"/>
              </a:buClr>
              <a:buSzPts val="1600"/>
              <a:buFont typeface="Poppins"/>
              <a:buNone/>
            </a:pPr>
            <a:r>
              <a:rPr b="0" i="0" lang="en-US" sz="1600" u="none" cap="none" strike="noStrike">
                <a:solidFill>
                  <a:srgbClr val="1B43D4"/>
                </a:solidFill>
                <a:latin typeface="Poppins"/>
                <a:ea typeface="Poppins"/>
                <a:cs typeface="Poppins"/>
                <a:sym typeface="Poppins"/>
              </a:rPr>
              <a:t>Pre-aggregate to match the question</a:t>
            </a:r>
            <a:endParaRPr b="0" i="0" sz="1600" u="none" cap="none" strike="noStrike">
              <a:solidFill>
                <a:schemeClr val="dk1"/>
              </a:solidFill>
              <a:latin typeface="Poppins"/>
              <a:ea typeface="Poppins"/>
              <a:cs typeface="Poppins"/>
              <a:sym typeface="Poppins"/>
            </a:endParaRPr>
          </a:p>
        </p:txBody>
      </p:sp>
      <p:sp>
        <p:nvSpPr>
          <p:cNvPr id="257" name="Google Shape;257;p9"/>
          <p:cNvSpPr/>
          <p:nvPr/>
        </p:nvSpPr>
        <p:spPr>
          <a:xfrm>
            <a:off x="6400800" y="2487175"/>
            <a:ext cx="5212200" cy="200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Poppins"/>
              <a:buNone/>
            </a:pPr>
            <a:r>
              <a:rPr b="0" i="0" lang="en-US" sz="1200" u="none" cap="none" strike="noStrike">
                <a:solidFill>
                  <a:srgbClr val="333333"/>
                </a:solidFill>
                <a:latin typeface="Poppins"/>
                <a:ea typeface="Poppins"/>
                <a:cs typeface="Poppins"/>
                <a:sym typeface="Poppins"/>
              </a:rPr>
              <a:t>Match the granularity of your aggregation to the granularity of your question. Pre-aggregate over the dimensions of the question.</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61" name="Shape 261"/>
        <p:cNvGrpSpPr/>
        <p:nvPr/>
      </p:nvGrpSpPr>
      <p:grpSpPr>
        <a:xfrm>
          <a:off x="0" y="0"/>
          <a:ext cx="0" cy="0"/>
          <a:chOff x="0" y="0"/>
          <a:chExt cx="0" cy="0"/>
        </a:xfrm>
      </p:grpSpPr>
      <p:pic>
        <p:nvPicPr>
          <p:cNvPr descr="/mnt/skills/user/xomnia-slide-builder/assets/bg-surface.png" id="262" name="Google Shape;262;g409854c100a_0_349"/>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63" name="Google Shape;263;g409854c100a_0_349"/>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64" name="Google Shape;264;g409854c100a_0_349"/>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65" name="Google Shape;265;g409854c100a_0_349"/>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66" name="Google Shape;266;g409854c100a_0_349"/>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Let me, or your neighbour, know if any questions pop up.</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Go through the DISCUSS items with one of your neighbours!</a:t>
            </a:r>
            <a:endParaRPr sz="1600">
              <a:solidFill>
                <a:srgbClr val="333333"/>
              </a:solidFill>
              <a:latin typeface="Poppins"/>
              <a:ea typeface="Poppins"/>
              <a:cs typeface="Poppins"/>
              <a:sym typeface="Poppins"/>
            </a:endParaRPr>
          </a:p>
        </p:txBody>
      </p:sp>
      <p:sp>
        <p:nvSpPr>
          <p:cNvPr id="267" name="Google Shape;267;g409854c100a_0_349"/>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3</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Right context, right question</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71" name="Shape 271"/>
        <p:cNvGrpSpPr/>
        <p:nvPr/>
      </p:nvGrpSpPr>
      <p:grpSpPr>
        <a:xfrm>
          <a:off x="0" y="0"/>
          <a:ext cx="0" cy="0"/>
          <a:chOff x="0" y="0"/>
          <a:chExt cx="0" cy="0"/>
        </a:xfrm>
      </p:grpSpPr>
      <p:pic>
        <p:nvPicPr>
          <p:cNvPr descr="/mnt/skills/user/xomnia-slide-builder/assets/bg-surface.png" id="272" name="Google Shape;272;g409854c100a_0_408"/>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73" name="Google Shape;273;g409854c100a_0_408"/>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74" name="Google Shape;274;g409854c100a_0_408"/>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75" name="Google Shape;275;g409854c100a_0_408"/>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76" name="Google Shape;276;g409854c100a_0_408"/>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Ir</a:t>
            </a:r>
            <a:r>
              <a:rPr lang="en-US" sz="1600">
                <a:solidFill>
                  <a:srgbClr val="333333"/>
                </a:solidFill>
                <a:latin typeface="Poppins"/>
                <a:ea typeface="Poppins"/>
                <a:cs typeface="Poppins"/>
                <a:sym typeface="Poppins"/>
              </a:rPr>
              <a:t>relevant columns cost tokens and add noise.</a:t>
            </a: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When LLM decides on columns it requires good column descriptions. The semantic layer is extremely important for efficient LLM use.</a:t>
            </a:r>
            <a:endParaRPr sz="1600">
              <a:solidFill>
                <a:srgbClr val="333333"/>
              </a:solidFill>
              <a:latin typeface="Poppins"/>
              <a:ea typeface="Poppins"/>
              <a:cs typeface="Poppins"/>
              <a:sym typeface="Poppins"/>
            </a:endParaRPr>
          </a:p>
        </p:txBody>
      </p:sp>
      <p:sp>
        <p:nvSpPr>
          <p:cNvPr id="277" name="Google Shape;277;g409854c100a_0_408"/>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3</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Right context, right question</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81" name="Shape 281"/>
        <p:cNvGrpSpPr/>
        <p:nvPr/>
      </p:nvGrpSpPr>
      <p:grpSpPr>
        <a:xfrm>
          <a:off x="0" y="0"/>
          <a:ext cx="0" cy="0"/>
          <a:chOff x="0" y="0"/>
          <a:chExt cx="0" cy="0"/>
        </a:xfrm>
      </p:grpSpPr>
      <p:pic>
        <p:nvPicPr>
          <p:cNvPr descr="/mnt/skills/user/xomnia-slide-builder/assets/bg-surface.png" id="282" name="Google Shape;282;g409854c100a_0_358"/>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83" name="Google Shape;283;g409854c100a_0_358"/>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84" name="Google Shape;284;g409854c100a_0_358"/>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85" name="Google Shape;285;g409854c100a_0_358"/>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86" name="Google Shape;286;g409854c100a_0_358"/>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Let me, or your neighbour, know if any questions pop up.</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Go through the DISCUSS items with one of your neighbours!</a:t>
            </a:r>
            <a:endParaRPr sz="1600">
              <a:solidFill>
                <a:srgbClr val="333333"/>
              </a:solidFill>
              <a:latin typeface="Poppins"/>
              <a:ea typeface="Poppins"/>
              <a:cs typeface="Poppins"/>
              <a:sym typeface="Poppins"/>
            </a:endParaRPr>
          </a:p>
        </p:txBody>
      </p:sp>
      <p:sp>
        <p:nvSpPr>
          <p:cNvPr id="287" name="Google Shape;287;g409854c100a_0_358"/>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4</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When the LLM transforms the data</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291" name="Shape 291"/>
        <p:cNvGrpSpPr/>
        <p:nvPr/>
      </p:nvGrpSpPr>
      <p:grpSpPr>
        <a:xfrm>
          <a:off x="0" y="0"/>
          <a:ext cx="0" cy="0"/>
          <a:chOff x="0" y="0"/>
          <a:chExt cx="0" cy="0"/>
        </a:xfrm>
      </p:grpSpPr>
      <p:pic>
        <p:nvPicPr>
          <p:cNvPr descr="/mnt/skills/user/xomnia-slide-builder/assets/bg-surface.png" id="292" name="Google Shape;292;g409854c100a_0_399"/>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293" name="Google Shape;293;g409854c100a_0_399"/>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294" name="Google Shape;294;g409854c100a_0_399"/>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295" name="Google Shape;295;g409854c100a_0_399"/>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296" name="Google Shape;296;g409854c100a_0_399"/>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Real-life issue</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parse_llm_json might be irrelevant for the state-of-the-art LLM models out there, however those are more costly.</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Can create a dead-letter queue for rows that never pass</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Storing </a:t>
            </a:r>
            <a:r>
              <a:rPr lang="en-US" sz="1600">
                <a:solidFill>
                  <a:srgbClr val="333333"/>
                </a:solidFill>
                <a:latin typeface="Courier New"/>
                <a:ea typeface="Courier New"/>
                <a:cs typeface="Courier New"/>
                <a:sym typeface="Courier New"/>
              </a:rPr>
              <a:t>raw_results</a:t>
            </a:r>
            <a:br>
              <a:rPr lang="en-US" sz="1600">
                <a:solidFill>
                  <a:srgbClr val="333333"/>
                </a:solidFill>
                <a:latin typeface="Poppins"/>
                <a:ea typeface="Poppins"/>
                <a:cs typeface="Poppins"/>
                <a:sym typeface="Poppins"/>
              </a:rPr>
            </a:br>
            <a:r>
              <a:rPr lang="en-US" sz="1600">
                <a:solidFill>
                  <a:srgbClr val="333333"/>
                </a:solidFill>
                <a:latin typeface="Poppins"/>
                <a:ea typeface="Poppins"/>
                <a:cs typeface="Poppins"/>
                <a:sym typeface="Poppins"/>
              </a:rPr>
              <a:t>This holds what the LLM said before parsing. In production, storing that alongside the parsed result means if you change your schema or validation rules later, you can revalidate old extractions without paying for new API calls</a:t>
            </a:r>
            <a:endParaRPr sz="1600">
              <a:solidFill>
                <a:srgbClr val="333333"/>
              </a:solidFill>
              <a:latin typeface="Poppins"/>
              <a:ea typeface="Poppins"/>
              <a:cs typeface="Poppins"/>
              <a:sym typeface="Poppins"/>
            </a:endParaRPr>
          </a:p>
        </p:txBody>
      </p:sp>
      <p:sp>
        <p:nvSpPr>
          <p:cNvPr id="297" name="Google Shape;297;g409854c100a_0_399"/>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4</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When the LLM transforms the data</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301" name="Shape 301"/>
        <p:cNvGrpSpPr/>
        <p:nvPr/>
      </p:nvGrpSpPr>
      <p:grpSpPr>
        <a:xfrm>
          <a:off x="0" y="0"/>
          <a:ext cx="0" cy="0"/>
          <a:chOff x="0" y="0"/>
          <a:chExt cx="0" cy="0"/>
        </a:xfrm>
      </p:grpSpPr>
      <p:pic>
        <p:nvPicPr>
          <p:cNvPr descr="/mnt/skills/user/xomnia-slide-builder/assets/bg-surface.png" id="302" name="Google Shape;302;g409854c100a_0_367"/>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303" name="Google Shape;303;g409854c100a_0_367"/>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304" name="Google Shape;304;g409854c100a_0_367"/>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305" name="Google Shape;305;g409854c100a_0_367"/>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306" name="Google Shape;306;g409854c100a_0_367"/>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Let me, or your neighbour, know if any questions pop up.</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rPr lang="en-US" sz="1600">
                <a:solidFill>
                  <a:srgbClr val="333333"/>
                </a:solidFill>
                <a:latin typeface="Poppins"/>
                <a:ea typeface="Poppins"/>
                <a:cs typeface="Poppins"/>
                <a:sym typeface="Poppins"/>
              </a:rPr>
              <a:t>Go through the DISCUSS items with one of your neighbours!</a:t>
            </a:r>
            <a:endParaRPr sz="1600">
              <a:solidFill>
                <a:srgbClr val="333333"/>
              </a:solidFill>
              <a:latin typeface="Poppins"/>
              <a:ea typeface="Poppins"/>
              <a:cs typeface="Poppins"/>
              <a:sym typeface="Poppins"/>
            </a:endParaRPr>
          </a:p>
        </p:txBody>
      </p:sp>
      <p:sp>
        <p:nvSpPr>
          <p:cNvPr id="307" name="Google Shape;307;g409854c100a_0_367"/>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5</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Numbers they can trust</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311" name="Shape 311"/>
        <p:cNvGrpSpPr/>
        <p:nvPr/>
      </p:nvGrpSpPr>
      <p:grpSpPr>
        <a:xfrm>
          <a:off x="0" y="0"/>
          <a:ext cx="0" cy="0"/>
          <a:chOff x="0" y="0"/>
          <a:chExt cx="0" cy="0"/>
        </a:xfrm>
      </p:grpSpPr>
      <p:pic>
        <p:nvPicPr>
          <p:cNvPr descr="/mnt/skills/user/xomnia-slide-builder/assets/bg-surface.png" id="312" name="Google Shape;312;g409854c100a_0_381"/>
          <p:cNvPicPr preferRelativeResize="0"/>
          <p:nvPr/>
        </p:nvPicPr>
        <p:blipFill rotWithShape="1">
          <a:blip r:embed="rId3">
            <a:alphaModFix/>
          </a:blip>
          <a:srcRect b="0" l="0" r="0" t="0"/>
          <a:stretch/>
        </p:blipFill>
        <p:spPr>
          <a:xfrm>
            <a:off x="0" y="0"/>
            <a:ext cx="12188954" cy="6858000"/>
          </a:xfrm>
          <a:prstGeom prst="rect">
            <a:avLst/>
          </a:prstGeom>
          <a:noFill/>
          <a:ln>
            <a:noFill/>
          </a:ln>
        </p:spPr>
      </p:pic>
      <p:pic>
        <p:nvPicPr>
          <p:cNvPr descr="/mnt/skills/user/xomnia-slide-builder/assets/logo-blue.png" id="313" name="Google Shape;313;g409854c100a_0_381"/>
          <p:cNvPicPr preferRelativeResize="0"/>
          <p:nvPr/>
        </p:nvPicPr>
        <p:blipFill rotWithShape="1">
          <a:blip r:embed="rId4">
            <a:alphaModFix/>
          </a:blip>
          <a:srcRect b="0" l="0" r="0" t="0"/>
          <a:stretch/>
        </p:blipFill>
        <p:spPr>
          <a:xfrm>
            <a:off x="10735056" y="6126480"/>
            <a:ext cx="941833" cy="201168"/>
          </a:xfrm>
          <a:prstGeom prst="rect">
            <a:avLst/>
          </a:prstGeom>
          <a:noFill/>
          <a:ln>
            <a:noFill/>
          </a:ln>
        </p:spPr>
      </p:pic>
      <p:sp>
        <p:nvSpPr>
          <p:cNvPr id="314" name="Google Shape;314;g409854c100a_0_381"/>
          <p:cNvSpPr/>
          <p:nvPr/>
        </p:nvSpPr>
        <p:spPr>
          <a:xfrm>
            <a:off x="10186416" y="6126480"/>
            <a:ext cx="5028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8B93"/>
              </a:buClr>
              <a:buSzPts val="900"/>
              <a:buFont typeface="Poppins"/>
              <a:buNone/>
            </a:pPr>
            <a:r>
              <a:rPr b="0" i="0" lang="en-US" sz="900" u="none" cap="none" strike="noStrike">
                <a:solidFill>
                  <a:srgbClr val="848B93"/>
                </a:solidFill>
                <a:latin typeface="Poppins"/>
                <a:ea typeface="Poppins"/>
                <a:cs typeface="Poppins"/>
                <a:sym typeface="Poppins"/>
              </a:rPr>
              <a:t>08</a:t>
            </a:r>
            <a:endParaRPr b="0" i="0" sz="900" u="none" cap="none" strike="noStrike">
              <a:solidFill>
                <a:schemeClr val="dk1"/>
              </a:solidFill>
              <a:latin typeface="Poppins"/>
              <a:ea typeface="Poppins"/>
              <a:cs typeface="Poppins"/>
              <a:sym typeface="Poppins"/>
            </a:endParaRPr>
          </a:p>
        </p:txBody>
      </p:sp>
      <p:sp>
        <p:nvSpPr>
          <p:cNvPr id="315" name="Google Shape;315;g409854c100a_0_381"/>
          <p:cNvSpPr/>
          <p:nvPr/>
        </p:nvSpPr>
        <p:spPr>
          <a:xfrm>
            <a:off x="512064" y="182880"/>
            <a:ext cx="1116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0</a:t>
            </a:r>
            <a:r>
              <a:rPr lang="en-US" sz="1200">
                <a:solidFill>
                  <a:srgbClr val="848B93"/>
                </a:solidFill>
                <a:latin typeface="Poppins"/>
                <a:ea typeface="Poppins"/>
                <a:cs typeface="Poppins"/>
                <a:sym typeface="Poppins"/>
              </a:rPr>
              <a:t>2 </a:t>
            </a:r>
            <a:r>
              <a:rPr b="0" i="0" lang="en-US" sz="1200" u="none" cap="none" strike="noStrike">
                <a:solidFill>
                  <a:srgbClr val="848B93"/>
                </a:solidFill>
                <a:latin typeface="Poppins"/>
                <a:ea typeface="Poppins"/>
                <a:cs typeface="Poppins"/>
                <a:sym typeface="Poppins"/>
              </a:rPr>
              <a:t>| </a:t>
            </a:r>
            <a:r>
              <a:rPr lang="en-US" sz="1200">
                <a:solidFill>
                  <a:srgbClr val="848B93"/>
                </a:solidFill>
                <a:latin typeface="Poppins"/>
                <a:ea typeface="Poppins"/>
                <a:cs typeface="Poppins"/>
                <a:sym typeface="Poppins"/>
              </a:rPr>
              <a:t>Workbook</a:t>
            </a:r>
            <a:endParaRPr b="0" i="0" sz="1200" u="none" cap="none" strike="noStrike">
              <a:solidFill>
                <a:schemeClr val="dk1"/>
              </a:solidFill>
              <a:latin typeface="Poppins"/>
              <a:ea typeface="Poppins"/>
              <a:cs typeface="Poppins"/>
              <a:sym typeface="Poppins"/>
            </a:endParaRPr>
          </a:p>
        </p:txBody>
      </p:sp>
      <p:sp>
        <p:nvSpPr>
          <p:cNvPr id="316" name="Google Shape;316;g409854c100a_0_381"/>
          <p:cNvSpPr/>
          <p:nvPr/>
        </p:nvSpPr>
        <p:spPr>
          <a:xfrm>
            <a:off x="512064" y="1536192"/>
            <a:ext cx="1116480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0" lvl="0" marL="0" marR="0" rtl="0" algn="l">
              <a:spcBef>
                <a:spcPts val="0"/>
              </a:spcBef>
              <a:spcAft>
                <a:spcPts val="0"/>
              </a:spcAft>
              <a:buClr>
                <a:srgbClr val="333333"/>
              </a:buClr>
              <a:buSzPts val="1300"/>
              <a:buFont typeface="Poppins"/>
              <a:buNone/>
            </a:pPr>
            <a:r>
              <a:t/>
            </a: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This is how </a:t>
            </a:r>
            <a:r>
              <a:rPr lang="en-US" sz="1600">
                <a:solidFill>
                  <a:srgbClr val="333333"/>
                </a:solidFill>
                <a:latin typeface="Poppins"/>
                <a:ea typeface="Poppins"/>
                <a:cs typeface="Poppins"/>
                <a:sym typeface="Poppins"/>
              </a:rPr>
              <a:t>production analytics AI</a:t>
            </a:r>
            <a:r>
              <a:rPr lang="en-US" sz="1600">
                <a:solidFill>
                  <a:srgbClr val="333333"/>
                </a:solidFill>
                <a:latin typeface="Poppins"/>
                <a:ea typeface="Poppins"/>
                <a:cs typeface="Poppins"/>
                <a:sym typeface="Poppins"/>
              </a:rPr>
              <a:t> works</a:t>
            </a:r>
            <a:br>
              <a:rPr lang="en-US" sz="1600">
                <a:solidFill>
                  <a:srgbClr val="333333"/>
                </a:solidFill>
                <a:latin typeface="Poppins"/>
                <a:ea typeface="Poppins"/>
                <a:cs typeface="Poppins"/>
                <a:sym typeface="Poppins"/>
              </a:rPr>
            </a:br>
            <a:r>
              <a:rPr lang="en-US" sz="1600">
                <a:solidFill>
                  <a:srgbClr val="333333"/>
                </a:solidFill>
                <a:latin typeface="Poppins"/>
                <a:ea typeface="Poppins"/>
                <a:cs typeface="Poppins"/>
                <a:sym typeface="Poppins"/>
              </a:rPr>
              <a:t>Databricks and Tableau use text-to-SQL. </a:t>
            </a:r>
            <a:br>
              <a:rPr lang="en-US" sz="1600">
                <a:solidFill>
                  <a:srgbClr val="333333"/>
                </a:solidFill>
                <a:latin typeface="Poppins"/>
                <a:ea typeface="Poppins"/>
                <a:cs typeface="Poppins"/>
                <a:sym typeface="Poppins"/>
              </a:rPr>
            </a:br>
            <a:r>
              <a:rPr lang="en-US" sz="1600">
                <a:solidFill>
                  <a:srgbClr val="333333"/>
                </a:solidFill>
                <a:latin typeface="Poppins"/>
                <a:ea typeface="Poppins"/>
                <a:cs typeface="Poppins"/>
                <a:sym typeface="Poppins"/>
              </a:rPr>
              <a:t>Business user → question → Tableau → writes SQL → database runs it → LLM explains the result.</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The failure in the </a:t>
            </a:r>
            <a:r>
              <a:rPr lang="en-US" sz="1600">
                <a:solidFill>
                  <a:srgbClr val="333333"/>
                </a:solidFill>
                <a:latin typeface="Poppins"/>
                <a:ea typeface="Poppins"/>
                <a:cs typeface="Poppins"/>
                <a:sym typeface="Poppins"/>
              </a:rPr>
              <a:t>naive</a:t>
            </a:r>
            <a:r>
              <a:rPr lang="en-US" sz="1600">
                <a:solidFill>
                  <a:srgbClr val="333333"/>
                </a:solidFill>
                <a:latin typeface="Poppins"/>
                <a:ea typeface="Poppins"/>
                <a:cs typeface="Poppins"/>
                <a:sym typeface="Poppins"/>
              </a:rPr>
              <a:t> approach is a cognitive task mismatch, not a knowledge gap. The model is like a brilliant </a:t>
            </a:r>
            <a:r>
              <a:rPr lang="en-US" sz="1600">
                <a:solidFill>
                  <a:srgbClr val="333333"/>
                </a:solidFill>
                <a:latin typeface="Poppins"/>
                <a:ea typeface="Poppins"/>
                <a:cs typeface="Poppins"/>
                <a:sym typeface="Poppins"/>
              </a:rPr>
              <a:t>analyst</a:t>
            </a:r>
            <a:r>
              <a:rPr lang="en-US" sz="1600">
                <a:solidFill>
                  <a:srgbClr val="333333"/>
                </a:solidFill>
                <a:latin typeface="Poppins"/>
                <a:ea typeface="Poppins"/>
                <a:cs typeface="Poppins"/>
                <a:sym typeface="Poppins"/>
              </a:rPr>
              <a:t> who can’t do maths in their head, but with a calculate (the database) it is fine.</a:t>
            </a:r>
            <a:br>
              <a:rPr lang="en-US" sz="1600">
                <a:solidFill>
                  <a:srgbClr val="333333"/>
                </a:solidFill>
                <a:latin typeface="Poppins"/>
                <a:ea typeface="Poppins"/>
                <a:cs typeface="Poppins"/>
                <a:sym typeface="Poppins"/>
              </a:rPr>
            </a:br>
            <a:endParaRPr sz="1600">
              <a:solidFill>
                <a:srgbClr val="333333"/>
              </a:solidFill>
              <a:latin typeface="Poppins"/>
              <a:ea typeface="Poppins"/>
              <a:cs typeface="Poppins"/>
              <a:sym typeface="Poppins"/>
            </a:endParaRPr>
          </a:p>
          <a:p>
            <a:pPr indent="-330200" lvl="0" marL="457200" marR="0" rtl="0" algn="l">
              <a:spcBef>
                <a:spcPts val="0"/>
              </a:spcBef>
              <a:spcAft>
                <a:spcPts val="0"/>
              </a:spcAft>
              <a:buClr>
                <a:srgbClr val="333333"/>
              </a:buClr>
              <a:buSzPts val="1600"/>
              <a:buFont typeface="Poppins"/>
              <a:buChar char="●"/>
            </a:pPr>
            <a:r>
              <a:rPr lang="en-US" sz="1600">
                <a:solidFill>
                  <a:srgbClr val="333333"/>
                </a:solidFill>
                <a:latin typeface="Poppins"/>
                <a:ea typeface="Poppins"/>
                <a:cs typeface="Poppins"/>
                <a:sym typeface="Poppins"/>
              </a:rPr>
              <a:t>The LLM </a:t>
            </a:r>
            <a:r>
              <a:rPr lang="en-US" sz="1600">
                <a:solidFill>
                  <a:srgbClr val="333333"/>
                </a:solidFill>
                <a:latin typeface="Poppins"/>
                <a:ea typeface="Poppins"/>
                <a:cs typeface="Poppins"/>
                <a:sym typeface="Poppins"/>
              </a:rPr>
              <a:t>writes</a:t>
            </a:r>
            <a:r>
              <a:rPr lang="en-US" sz="1600">
                <a:solidFill>
                  <a:srgbClr val="333333"/>
                </a:solidFill>
                <a:latin typeface="Poppins"/>
                <a:ea typeface="Poppins"/>
                <a:cs typeface="Poppins"/>
                <a:sym typeface="Poppins"/>
              </a:rPr>
              <a:t> SQL based on what you tell it about the table. </a:t>
            </a:r>
            <a:br>
              <a:rPr lang="en-US" sz="1600">
                <a:solidFill>
                  <a:srgbClr val="333333"/>
                </a:solidFill>
                <a:latin typeface="Poppins"/>
                <a:ea typeface="Poppins"/>
                <a:cs typeface="Poppins"/>
                <a:sym typeface="Poppins"/>
              </a:rPr>
            </a:br>
            <a:r>
              <a:rPr lang="en-US" sz="1600">
                <a:solidFill>
                  <a:srgbClr val="333333"/>
                </a:solidFill>
                <a:latin typeface="Poppins"/>
                <a:ea typeface="Poppins"/>
                <a:cs typeface="Poppins"/>
                <a:sym typeface="Poppins"/>
              </a:rPr>
              <a:t>Where good documentation was first a nice-to-have, now it directly affects answer correctness</a:t>
            </a:r>
            <a:endParaRPr sz="1600">
              <a:solidFill>
                <a:srgbClr val="333333"/>
              </a:solidFill>
              <a:latin typeface="Poppins"/>
              <a:ea typeface="Poppins"/>
              <a:cs typeface="Poppins"/>
              <a:sym typeface="Poppins"/>
            </a:endParaRPr>
          </a:p>
        </p:txBody>
      </p:sp>
      <p:sp>
        <p:nvSpPr>
          <p:cNvPr id="317" name="Google Shape;317;g409854c100a_0_381"/>
          <p:cNvSpPr/>
          <p:nvPr/>
        </p:nvSpPr>
        <p:spPr>
          <a:xfrm>
            <a:off x="512064" y="594360"/>
            <a:ext cx="11164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2700"/>
              <a:buFont typeface="Poppins"/>
              <a:buNone/>
            </a:pPr>
            <a:r>
              <a:rPr lang="en-US" sz="2700">
                <a:solidFill>
                  <a:srgbClr val="333333"/>
                </a:solidFill>
                <a:latin typeface="Poppins"/>
                <a:ea typeface="Poppins"/>
                <a:cs typeface="Poppins"/>
                <a:sym typeface="Poppins"/>
              </a:rPr>
              <a:t>Exercise 5</a:t>
            </a:r>
            <a:r>
              <a:rPr b="0" i="0" lang="en-US" sz="2700" u="none" cap="none" strike="noStrike">
                <a:solidFill>
                  <a:srgbClr val="333333"/>
                </a:solidFill>
                <a:latin typeface="Poppins"/>
                <a:ea typeface="Poppins"/>
                <a:cs typeface="Poppins"/>
                <a:sym typeface="Poppins"/>
              </a:rPr>
              <a:t>: </a:t>
            </a:r>
            <a:r>
              <a:rPr lang="en-US" sz="2700">
                <a:solidFill>
                  <a:srgbClr val="1B43D4"/>
                </a:solidFill>
                <a:latin typeface="Poppins"/>
                <a:ea typeface="Poppins"/>
                <a:cs typeface="Poppins"/>
                <a:sym typeface="Poppins"/>
              </a:rPr>
              <a:t>Numbers they can trust</a:t>
            </a:r>
            <a:endParaRPr b="0" i="0" sz="2700" u="none" cap="none" strike="noStrike">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BF2"/>
        </a:solidFill>
      </p:bgPr>
    </p:bg>
    <p:spTree>
      <p:nvGrpSpPr>
        <p:cNvPr id="322" name="Shape 322"/>
        <p:cNvGrpSpPr/>
        <p:nvPr/>
      </p:nvGrpSpPr>
      <p:grpSpPr>
        <a:xfrm>
          <a:off x="0" y="0"/>
          <a:ext cx="0" cy="0"/>
          <a:chOff x="0" y="0"/>
          <a:chExt cx="0" cy="0"/>
        </a:xfrm>
      </p:grpSpPr>
      <p:pic>
        <p:nvPicPr>
          <p:cNvPr descr="/mnt/skills/user/xomnia-slide-builder/assets/bg-surface.png" id="323" name="Google Shape;323;p14"/>
          <p:cNvPicPr preferRelativeResize="0"/>
          <p:nvPr/>
        </p:nvPicPr>
        <p:blipFill rotWithShape="1">
          <a:blip r:embed="rId3">
            <a:alphaModFix/>
          </a:blip>
          <a:srcRect b="0" l="0" r="0" t="0"/>
          <a:stretch/>
        </p:blipFill>
        <p:spPr>
          <a:xfrm>
            <a:off x="0" y="0"/>
            <a:ext cx="12188952" cy="6858000"/>
          </a:xfrm>
          <a:prstGeom prst="rect">
            <a:avLst/>
          </a:prstGeom>
          <a:noFill/>
          <a:ln>
            <a:noFill/>
          </a:ln>
        </p:spPr>
      </p:pic>
      <p:sp>
        <p:nvSpPr>
          <p:cNvPr id="324" name="Google Shape;324;p14"/>
          <p:cNvSpPr/>
          <p:nvPr/>
        </p:nvSpPr>
        <p:spPr>
          <a:xfrm>
            <a:off x="512064" y="182880"/>
            <a:ext cx="5440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b="0" i="0" lang="en-US" sz="1200" u="none" cap="none" strike="noStrike">
                <a:solidFill>
                  <a:srgbClr val="848B93"/>
                </a:solidFill>
                <a:latin typeface="Poppins"/>
                <a:ea typeface="Poppins"/>
                <a:cs typeface="Poppins"/>
                <a:sym typeface="Poppins"/>
              </a:rPr>
              <a:t>PyLadies Workshop</a:t>
            </a:r>
            <a:endParaRPr b="0" i="0" sz="1200" u="none" cap="none" strike="noStrike">
              <a:solidFill>
                <a:schemeClr val="dk1"/>
              </a:solidFill>
              <a:latin typeface="Poppins"/>
              <a:ea typeface="Poppins"/>
              <a:cs typeface="Poppins"/>
              <a:sym typeface="Poppins"/>
            </a:endParaRPr>
          </a:p>
        </p:txBody>
      </p:sp>
      <p:sp>
        <p:nvSpPr>
          <p:cNvPr id="325" name="Google Shape;325;p14"/>
          <p:cNvSpPr/>
          <p:nvPr/>
        </p:nvSpPr>
        <p:spPr>
          <a:xfrm>
            <a:off x="512064" y="502920"/>
            <a:ext cx="5440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3000"/>
              <a:buFont typeface="Poppins"/>
              <a:buNone/>
            </a:pPr>
            <a:r>
              <a:rPr lang="en-US" sz="3000">
                <a:solidFill>
                  <a:srgbClr val="333333"/>
                </a:solidFill>
                <a:latin typeface="Poppins"/>
                <a:ea typeface="Poppins"/>
                <a:cs typeface="Poppins"/>
                <a:sym typeface="Poppins"/>
              </a:rPr>
              <a:t>The AI-beast</a:t>
            </a:r>
            <a:r>
              <a:rPr b="0" i="0" lang="en-US" sz="3000" u="none" cap="none" strike="noStrike">
                <a:solidFill>
                  <a:srgbClr val="333333"/>
                </a:solidFill>
                <a:latin typeface="Poppins"/>
                <a:ea typeface="Poppins"/>
                <a:cs typeface="Poppins"/>
                <a:sym typeface="Poppins"/>
              </a:rPr>
              <a:t> </a:t>
            </a:r>
            <a:r>
              <a:rPr b="0" i="0" lang="en-US" sz="3000" u="none" cap="none" strike="noStrike">
                <a:solidFill>
                  <a:srgbClr val="1B43D4"/>
                </a:solidFill>
                <a:latin typeface="Poppins"/>
                <a:ea typeface="Poppins"/>
                <a:cs typeface="Poppins"/>
                <a:sym typeface="Poppins"/>
              </a:rPr>
              <a:t>has been fed</a:t>
            </a:r>
            <a:endParaRPr b="0" i="0" sz="3000" u="none" cap="none" strike="noStrike">
              <a:solidFill>
                <a:schemeClr val="dk1"/>
              </a:solidFill>
              <a:latin typeface="Poppins"/>
              <a:ea typeface="Poppins"/>
              <a:cs typeface="Poppins"/>
              <a:sym typeface="Poppins"/>
            </a:endParaRPr>
          </a:p>
        </p:txBody>
      </p:sp>
      <p:sp>
        <p:nvSpPr>
          <p:cNvPr id="326" name="Google Shape;326;p14"/>
          <p:cNvSpPr/>
          <p:nvPr/>
        </p:nvSpPr>
        <p:spPr>
          <a:xfrm>
            <a:off x="512064" y="1600200"/>
            <a:ext cx="5212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rPr b="0" i="0" lang="en-US" sz="1300" u="none" cap="none" strike="noStrike">
                <a:solidFill>
                  <a:srgbClr val="333333"/>
                </a:solidFill>
                <a:latin typeface="Poppins"/>
                <a:ea typeface="Poppins"/>
                <a:cs typeface="Poppins"/>
                <a:sym typeface="Poppins"/>
              </a:rPr>
              <a:t>Thank you for joining!</a:t>
            </a:r>
            <a:endParaRPr b="0" i="0" sz="1300" u="none" cap="none" strike="noStrike">
              <a:solidFill>
                <a:schemeClr val="dk1"/>
              </a:solidFill>
              <a:latin typeface="Poppins"/>
              <a:ea typeface="Poppins"/>
              <a:cs typeface="Poppins"/>
              <a:sym typeface="Poppins"/>
            </a:endParaRPr>
          </a:p>
        </p:txBody>
      </p:sp>
      <p:sp>
        <p:nvSpPr>
          <p:cNvPr id="327" name="Google Shape;327;p14"/>
          <p:cNvSpPr/>
          <p:nvPr/>
        </p:nvSpPr>
        <p:spPr>
          <a:xfrm>
            <a:off x="512064" y="1993392"/>
            <a:ext cx="521208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200"/>
              <a:buFont typeface="Poppins"/>
              <a:buNone/>
            </a:pPr>
            <a:r>
              <a:rPr b="0" i="0" lang="en-US" sz="1200" u="none" cap="none" strike="noStrike">
                <a:solidFill>
                  <a:srgbClr val="333333"/>
                </a:solidFill>
                <a:latin typeface="Poppins"/>
                <a:ea typeface="Poppins"/>
                <a:cs typeface="Poppins"/>
                <a:sym typeface="Poppins"/>
              </a:rPr>
              <a:t>Today we covered how data flows through an LLM and explored practical data preparation techniques. The notebook has everything you need to keep practising.</a:t>
            </a:r>
            <a:endParaRPr b="0" i="0" sz="1200" u="none" cap="none" strike="noStrike">
              <a:solidFill>
                <a:schemeClr val="dk1"/>
              </a:solidFill>
              <a:latin typeface="Poppins"/>
              <a:ea typeface="Poppins"/>
              <a:cs typeface="Poppins"/>
              <a:sym typeface="Poppins"/>
            </a:endParaRPr>
          </a:p>
        </p:txBody>
      </p:sp>
      <p:sp>
        <p:nvSpPr>
          <p:cNvPr id="328" name="Google Shape;328;p14"/>
          <p:cNvSpPr/>
          <p:nvPr/>
        </p:nvSpPr>
        <p:spPr>
          <a:xfrm>
            <a:off x="512064" y="3108960"/>
            <a:ext cx="52120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300"/>
              <a:buFont typeface="Poppins"/>
              <a:buNone/>
            </a:pPr>
            <a:r>
              <a:rPr b="1" i="0" lang="en-US" sz="1300" u="none" cap="none" strike="noStrike">
                <a:solidFill>
                  <a:srgbClr val="333333"/>
                </a:solidFill>
                <a:latin typeface="Poppins"/>
                <a:ea typeface="Poppins"/>
                <a:cs typeface="Poppins"/>
                <a:sym typeface="Poppins"/>
              </a:rPr>
              <a:t>Resources:</a:t>
            </a:r>
            <a:endParaRPr b="0" i="0" sz="1300" u="none" cap="none" strike="noStrike">
              <a:solidFill>
                <a:schemeClr val="dk1"/>
              </a:solidFill>
              <a:latin typeface="Poppins"/>
              <a:ea typeface="Poppins"/>
              <a:cs typeface="Poppins"/>
              <a:sym typeface="Poppins"/>
            </a:endParaRPr>
          </a:p>
        </p:txBody>
      </p:sp>
      <p:sp>
        <p:nvSpPr>
          <p:cNvPr id="329" name="Google Shape;329;p14"/>
          <p:cNvSpPr/>
          <p:nvPr/>
        </p:nvSpPr>
        <p:spPr>
          <a:xfrm>
            <a:off x="512064" y="4462136"/>
            <a:ext cx="521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D4"/>
              </a:buClr>
              <a:buSzPts val="1200"/>
              <a:buFont typeface="Poppins"/>
              <a:buNone/>
            </a:pPr>
            <a:r>
              <a:rPr b="0" i="0" lang="en-US" sz="1200" u="none" cap="none" strike="noStrike">
                <a:solidFill>
                  <a:srgbClr val="1B43D4"/>
                </a:solidFill>
                <a:latin typeface="Poppins"/>
                <a:ea typeface="Poppins"/>
                <a:cs typeface="Poppins"/>
                <a:sym typeface="Poppins"/>
              </a:rPr>
              <a:t>Notebook on GitHub</a:t>
            </a:r>
            <a:endParaRPr b="0" i="0" sz="1200" u="none" cap="none" strike="noStrike">
              <a:solidFill>
                <a:schemeClr val="dk1"/>
              </a:solidFill>
              <a:latin typeface="Poppins"/>
              <a:ea typeface="Poppins"/>
              <a:cs typeface="Poppins"/>
              <a:sym typeface="Poppins"/>
            </a:endParaRPr>
          </a:p>
        </p:txBody>
      </p:sp>
      <p:sp>
        <p:nvSpPr>
          <p:cNvPr id="330" name="Google Shape;330;p14"/>
          <p:cNvSpPr/>
          <p:nvPr/>
        </p:nvSpPr>
        <p:spPr>
          <a:xfrm>
            <a:off x="512064" y="4718168"/>
            <a:ext cx="52122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Poppins"/>
              <a:buNone/>
            </a:pPr>
            <a:r>
              <a:rPr b="0" i="0" lang="en-US" sz="1100" u="none" cap="none" strike="noStrike">
                <a:solidFill>
                  <a:srgbClr val="333333"/>
                </a:solidFill>
                <a:latin typeface="Poppins"/>
                <a:ea typeface="Poppins"/>
                <a:cs typeface="Poppins"/>
                <a:sym typeface="Poppins"/>
              </a:rPr>
              <a:t>All exercises are in the shared notebook. Fork it and keep experimenting.</a:t>
            </a:r>
            <a:endParaRPr b="0" i="0" sz="1100" u="none" cap="none" strike="noStrike">
              <a:solidFill>
                <a:schemeClr val="dk1"/>
              </a:solidFill>
              <a:latin typeface="Poppins"/>
              <a:ea typeface="Poppins"/>
              <a:cs typeface="Poppins"/>
              <a:sym typeface="Poppins"/>
            </a:endParaRPr>
          </a:p>
        </p:txBody>
      </p:sp>
      <p:sp>
        <p:nvSpPr>
          <p:cNvPr id="331" name="Google Shape;331;p14"/>
          <p:cNvSpPr/>
          <p:nvPr/>
        </p:nvSpPr>
        <p:spPr>
          <a:xfrm>
            <a:off x="512064" y="3522351"/>
            <a:ext cx="521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D4"/>
              </a:buClr>
              <a:buSzPts val="1200"/>
              <a:buFont typeface="Poppins"/>
              <a:buNone/>
            </a:pPr>
            <a:r>
              <a:rPr lang="en-US" sz="1200">
                <a:solidFill>
                  <a:srgbClr val="1B43D4"/>
                </a:solidFill>
                <a:latin typeface="Poppins"/>
                <a:ea typeface="Poppins"/>
                <a:cs typeface="Poppins"/>
                <a:sym typeface="Poppins"/>
              </a:rPr>
              <a:t>Presentation on Github</a:t>
            </a:r>
            <a:endParaRPr b="0" i="0" sz="1200" u="none" cap="none" strike="noStrike">
              <a:solidFill>
                <a:schemeClr val="dk1"/>
              </a:solidFill>
              <a:latin typeface="Poppins"/>
              <a:ea typeface="Poppins"/>
              <a:cs typeface="Poppins"/>
              <a:sym typeface="Poppins"/>
            </a:endParaRPr>
          </a:p>
        </p:txBody>
      </p:sp>
      <p:sp>
        <p:nvSpPr>
          <p:cNvPr id="332" name="Google Shape;332;p14"/>
          <p:cNvSpPr/>
          <p:nvPr/>
        </p:nvSpPr>
        <p:spPr>
          <a:xfrm>
            <a:off x="512064" y="3995109"/>
            <a:ext cx="521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D4"/>
              </a:buClr>
              <a:buSzPts val="1200"/>
              <a:buFont typeface="Poppins"/>
              <a:buNone/>
            </a:pPr>
            <a:r>
              <a:rPr lang="en-US" sz="1200">
                <a:solidFill>
                  <a:srgbClr val="1B43D4"/>
                </a:solidFill>
                <a:latin typeface="Poppins"/>
                <a:ea typeface="Poppins"/>
                <a:cs typeface="Poppins"/>
                <a:sym typeface="Poppins"/>
              </a:rPr>
              <a:t>Youtube recording</a:t>
            </a:r>
            <a:endParaRPr b="0" i="0" sz="1200" u="none" cap="none" strike="noStrike">
              <a:solidFill>
                <a:schemeClr val="dk1"/>
              </a:solidFill>
              <a:latin typeface="Poppins"/>
              <a:ea typeface="Poppins"/>
              <a:cs typeface="Poppins"/>
              <a:sym typeface="Poppins"/>
            </a:endParaRPr>
          </a:p>
        </p:txBody>
      </p:sp>
      <p:sp>
        <p:nvSpPr>
          <p:cNvPr id="333" name="Google Shape;333;p14"/>
          <p:cNvSpPr/>
          <p:nvPr/>
        </p:nvSpPr>
        <p:spPr>
          <a:xfrm>
            <a:off x="6263640" y="1005840"/>
            <a:ext cx="5422500" cy="5074800"/>
          </a:xfrm>
          <a:prstGeom prst="roundRect">
            <a:avLst>
              <a:gd fmla="val 2523" name="adj"/>
            </a:avLst>
          </a:prstGeom>
          <a:solidFill>
            <a:srgbClr val="1B43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
          <p:cNvSpPr/>
          <p:nvPr/>
        </p:nvSpPr>
        <p:spPr>
          <a:xfrm>
            <a:off x="6414850" y="1234550"/>
            <a:ext cx="5120100" cy="358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200"/>
              <a:buFont typeface="Poppins"/>
              <a:buNone/>
            </a:pPr>
            <a:r>
              <a:rPr lang="en-US" sz="1200">
                <a:solidFill>
                  <a:schemeClr val="lt1"/>
                </a:solidFill>
                <a:latin typeface="Poppins"/>
                <a:ea typeface="Poppins"/>
                <a:cs typeface="Poppins"/>
                <a:sym typeface="Poppins"/>
              </a:rPr>
              <a:t>Get in touch with</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b="1" lang="en-US" sz="1200">
                <a:solidFill>
                  <a:schemeClr val="lt1"/>
                </a:solidFill>
                <a:latin typeface="Poppins"/>
                <a:ea typeface="Poppins"/>
                <a:cs typeface="Poppins"/>
                <a:sym typeface="Poppins"/>
              </a:rPr>
              <a:t>Jessica</a:t>
            </a:r>
            <a:br>
              <a:rPr lang="en-US" sz="1200">
                <a:solidFill>
                  <a:schemeClr val="lt1"/>
                </a:solidFill>
                <a:latin typeface="Poppins"/>
                <a:ea typeface="Poppins"/>
                <a:cs typeface="Poppins"/>
                <a:sym typeface="Poppins"/>
              </a:rPr>
            </a:br>
            <a:r>
              <a:rPr lang="en-US" sz="1200">
                <a:solidFill>
                  <a:schemeClr val="lt1"/>
                </a:solidFill>
                <a:latin typeface="Poppins"/>
                <a:ea typeface="Poppins"/>
                <a:cs typeface="Poppins"/>
                <a:sym typeface="Poppins"/>
              </a:rPr>
              <a:t>jessica.eggen@xomnia.com</a:t>
            </a:r>
            <a:br>
              <a:rPr lang="en-US" sz="1200">
                <a:solidFill>
                  <a:schemeClr val="lt1"/>
                </a:solidFill>
                <a:latin typeface="Poppins"/>
                <a:ea typeface="Poppins"/>
                <a:cs typeface="Poppins"/>
                <a:sym typeface="Poppins"/>
              </a:rPr>
            </a:br>
            <a:r>
              <a:rPr lang="en-US" sz="1200" u="sng">
                <a:solidFill>
                  <a:schemeClr val="lt1"/>
                </a:solidFill>
                <a:latin typeface="Poppins"/>
                <a:ea typeface="Poppins"/>
                <a:cs typeface="Poppins"/>
                <a:sym typeface="Poppins"/>
                <a:hlinkClick r:id="rId4">
                  <a:extLst>
                    <a:ext uri="{A12FA001-AC4F-418D-AE19-62706E023703}">
                      <ahyp:hlinkClr val="tx"/>
                    </a:ext>
                  </a:extLst>
                </a:hlinkClick>
              </a:rPr>
              <a:t>https://www.linkedin.com/in/jessica-eggen-579b50155</a:t>
            </a:r>
            <a:r>
              <a:rPr lang="en-US" sz="1200">
                <a:solidFill>
                  <a:schemeClr val="lt1"/>
                </a:solidFill>
                <a:latin typeface="Poppins"/>
                <a:ea typeface="Poppins"/>
                <a:cs typeface="Poppins"/>
                <a:sym typeface="Poppins"/>
              </a:rPr>
              <a:t>  </a:t>
            </a:r>
            <a:br>
              <a:rPr lang="en-US"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b="1" lang="en-US" sz="1200">
                <a:solidFill>
                  <a:schemeClr val="lt1"/>
                </a:solidFill>
                <a:latin typeface="Poppins"/>
                <a:ea typeface="Poppins"/>
                <a:cs typeface="Poppins"/>
                <a:sym typeface="Poppins"/>
              </a:rPr>
              <a:t>Xomnia</a:t>
            </a:r>
            <a:br>
              <a:rPr b="1" lang="en-US" sz="1200">
                <a:solidFill>
                  <a:schemeClr val="lt1"/>
                </a:solidFill>
                <a:latin typeface="Poppins"/>
                <a:ea typeface="Poppins"/>
                <a:cs typeface="Poppins"/>
                <a:sym typeface="Poppins"/>
              </a:rPr>
            </a:br>
            <a:r>
              <a:rPr lang="en-US" sz="1200">
                <a:solidFill>
                  <a:schemeClr val="lt1"/>
                </a:solidFill>
                <a:latin typeface="Poppins"/>
                <a:ea typeface="Poppins"/>
                <a:cs typeface="Poppins"/>
                <a:sym typeface="Poppins"/>
              </a:rPr>
              <a:t>Denise</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lang="en-US" sz="1200" u="sng">
                <a:solidFill>
                  <a:schemeClr val="lt1"/>
                </a:solidFill>
                <a:latin typeface="Poppins"/>
                <a:ea typeface="Poppins"/>
                <a:cs typeface="Poppins"/>
                <a:sym typeface="Poppins"/>
                <a:hlinkClick r:id="rId5">
                  <a:extLst>
                    <a:ext uri="{A12FA001-AC4F-418D-AE19-62706E023703}">
                      <ahyp:hlinkClr val="tx"/>
                    </a:ext>
                  </a:extLst>
                </a:hlinkClick>
              </a:rPr>
              <a:t>info@xomnia.com</a:t>
            </a:r>
            <a:br>
              <a:rPr lang="en-US"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t/>
            </a:r>
            <a:endParaRPr b="1"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b="1" lang="en-US" sz="1200">
                <a:solidFill>
                  <a:schemeClr val="lt1"/>
                </a:solidFill>
                <a:latin typeface="Poppins"/>
                <a:ea typeface="Poppins"/>
                <a:cs typeface="Poppins"/>
                <a:sym typeface="Poppins"/>
              </a:rPr>
              <a:t>PyLadies</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lang="en-US" sz="1200">
                <a:solidFill>
                  <a:schemeClr val="lt1"/>
                </a:solidFill>
                <a:latin typeface="Poppins"/>
                <a:ea typeface="Poppins"/>
                <a:cs typeface="Poppins"/>
                <a:sym typeface="Poppins"/>
              </a:rPr>
              <a:t>Una or Giulia</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rPr lang="en-US" sz="1200" u="sng">
                <a:solidFill>
                  <a:schemeClr val="lt1"/>
                </a:solidFill>
                <a:latin typeface="Poppins"/>
                <a:ea typeface="Poppins"/>
                <a:cs typeface="Poppins"/>
                <a:sym typeface="Poppins"/>
                <a:hlinkClick r:id="rId6">
                  <a:extLst>
                    <a:ext uri="{A12FA001-AC4F-418D-AE19-62706E023703}">
                      <ahyp:hlinkClr val="tx"/>
                    </a:ext>
                  </a:extLst>
                </a:hlinkClick>
              </a:rPr>
              <a:t>amsterdam@pyladies.com</a:t>
            </a:r>
            <a:r>
              <a:rPr lang="en-US" sz="1200">
                <a:solidFill>
                  <a:schemeClr val="lt1"/>
                </a:solidFill>
                <a:latin typeface="Poppins"/>
                <a:ea typeface="Poppins"/>
                <a:cs typeface="Poppins"/>
                <a:sym typeface="Poppins"/>
              </a:rPr>
              <a:t> </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t/>
            </a:r>
            <a:endParaRPr sz="1200">
              <a:solidFill>
                <a:schemeClr val="lt1"/>
              </a:solidFill>
              <a:latin typeface="Poppins"/>
              <a:ea typeface="Poppins"/>
              <a:cs typeface="Poppins"/>
              <a:sym typeface="Poppins"/>
            </a:endParaRPr>
          </a:p>
          <a:p>
            <a:pPr indent="0" lvl="0" marL="0" marR="0" rtl="0" algn="l">
              <a:spcBef>
                <a:spcPts val="0"/>
              </a:spcBef>
              <a:spcAft>
                <a:spcPts val="0"/>
              </a:spcAft>
              <a:buClr>
                <a:srgbClr val="848B93"/>
              </a:buClr>
              <a:buSzPts val="1200"/>
              <a:buFont typeface="Poppins"/>
              <a:buNone/>
            </a:pPr>
            <a:r>
              <a:t/>
            </a:r>
            <a:endParaRPr sz="1200">
              <a:solidFill>
                <a:schemeClr val="lt1"/>
              </a:solidFill>
              <a:latin typeface="Poppins"/>
              <a:ea typeface="Poppins"/>
              <a:cs typeface="Poppins"/>
              <a:sym typeface="Poppins"/>
            </a:endParaRPr>
          </a:p>
        </p:txBody>
      </p:sp>
      <p:sp>
        <p:nvSpPr>
          <p:cNvPr id="335" name="Google Shape;335;p14"/>
          <p:cNvSpPr/>
          <p:nvPr/>
        </p:nvSpPr>
        <p:spPr>
          <a:xfrm>
            <a:off x="6368794" y="5390875"/>
            <a:ext cx="5212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8B93"/>
              </a:buClr>
              <a:buSzPts val="1300"/>
              <a:buFont typeface="Poppins"/>
              <a:buNone/>
            </a:pPr>
            <a:r>
              <a:rPr b="0" i="0" lang="en-US" sz="1300" u="none" cap="none" strike="noStrike">
                <a:solidFill>
                  <a:schemeClr val="lt1"/>
                </a:solidFill>
                <a:latin typeface="Poppins"/>
                <a:ea typeface="Poppins"/>
                <a:cs typeface="Poppins"/>
                <a:sym typeface="Poppins"/>
              </a:rPr>
              <a:t>Xomnia — Your Data &amp; AI Partner</a:t>
            </a:r>
            <a:endParaRPr b="0" i="0" sz="1300" u="none" cap="none" strike="noStrike">
              <a:solidFill>
                <a:schemeClr val="lt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Xomnia">
  <a:themeElements>
    <a:clrScheme name="Xomnia">
      <a:dk1>
        <a:srgbClr val="0D1B2E"/>
      </a:dk1>
      <a:lt1>
        <a:srgbClr val="FFFFFF"/>
      </a:lt1>
      <a:dk2>
        <a:srgbClr val="333333"/>
      </a:dk2>
      <a:lt2>
        <a:srgbClr val="E8EBF2"/>
      </a:lt2>
      <a:accent1>
        <a:srgbClr val="1B43D4"/>
      </a:accent1>
      <a:accent2>
        <a:srgbClr val="FCAC17"/>
      </a:accent2>
      <a:accent3>
        <a:srgbClr val="848B93"/>
      </a:accent3>
      <a:accent4>
        <a:srgbClr val="C5D2DE"/>
      </a:accent4>
      <a:accent5>
        <a:srgbClr val="0D1B2E"/>
      </a:accent5>
      <a:accent6>
        <a:srgbClr val="E8EBF2"/>
      </a:accent6>
      <a:hlink>
        <a:srgbClr val="1B43D4"/>
      </a:hlink>
      <a:folHlink>
        <a:srgbClr val="848B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Xomnia">
  <a:themeElements>
    <a:clrScheme name="Xomnia">
      <a:dk1>
        <a:srgbClr val="0D1B2E"/>
      </a:dk1>
      <a:lt1>
        <a:srgbClr val="FFFFFF"/>
      </a:lt1>
      <a:dk2>
        <a:srgbClr val="333333"/>
      </a:dk2>
      <a:lt2>
        <a:srgbClr val="E8EBF2"/>
      </a:lt2>
      <a:accent1>
        <a:srgbClr val="1B43D4"/>
      </a:accent1>
      <a:accent2>
        <a:srgbClr val="FCAC17"/>
      </a:accent2>
      <a:accent3>
        <a:srgbClr val="848B93"/>
      </a:accent3>
      <a:accent4>
        <a:srgbClr val="C5D2DE"/>
      </a:accent4>
      <a:accent5>
        <a:srgbClr val="0D1B2E"/>
      </a:accent5>
      <a:accent6>
        <a:srgbClr val="E8EBF2"/>
      </a:accent6>
      <a:hlink>
        <a:srgbClr val="1B43D4"/>
      </a:hlink>
      <a:folHlink>
        <a:srgbClr val="848B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2026-06-17T07:32:27Z</dcterms:created>
  <dc:creator>PptxGenJS</dc:creator>
</cp:coreProperties>
</file>